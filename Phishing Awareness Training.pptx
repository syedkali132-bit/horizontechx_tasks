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session takes about 15 minutes. By the end you will know how to spot phishing emails and fake websites, understand the tricks attackers use, and know exactly what to do if something looks wrong. There are four short quizzes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We start with the basics, then learn to spot bad emails and fake websites, look at how attackers manipulate people, review real incidents, and finish with best practices and four quizzes.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phishing in one sentence, then walk through the six types. Stress that the delivery channel changes (email, SMS, phone) but the goal is the same: get you to act without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typical example. Ask the audience to find the five red flags on the left before you reveal the explanations on the right. The bank name here is fictional.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mental checklist. One red flag is a reason to pause. Two or more means treat the message as phishing and report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Fake websites are the second half of most phishing attacks: the email gets you to the page, the page steals the login. The safest habit is never to log in through a link in a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row. The tricky one is paypal.com.secure-login.net: it starts with a trusted name, but the part that counts is the end of the host name. The addresses here are examples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Attackers rarely break in with technology. They persuade. If a message makes you feel rushed, scared or excited, that feeling is the signal to slow down and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Phishing is just one social engineering tactic. The same psychology works in person, on the phone and in chat. In every case the defense is the same: verify through a channel you trust before you comply.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well-documented cases. Case one is a spear-phishing email, case two is invoice fraud (a business email compromise style attack), and case three is a vishing attack on employees. None of them needed advanced hacking, only a convincing story. Details come from public reporting; check the sources before quoting exact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audience remembers only two habits: verify through a second channel, and turn on multi-factor authentication. MFA does not make phishing harmless, but it stops many stolen passwords from being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makes mistakes. The organizations that handle phishing best are the ones where people report quickly without fear. Adapt the reporting step to your own organization: add the real email address or phone number of your security team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answers, then click to reveal. Option B is a common mistake: replying confirms your address is active and the attacker will happily answer "yes, it is genuine".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people a moment to read each address from right to left. Option B is the one most people miss because it begins with the trusted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vishing. The caller creates fear (a fraud in progress) and urgency, then asks for the one code that completes their own login attempt. Caller ID can be faked, so always call back on a number you looked up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myth is widespread because older advice said "look for the padlock". Today most sites, including fake ones, use HTTPS. The padlock tells you the connection is private, not that the site is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three-step habit. Invite questions, and remind everyone where to report suspicious messages in your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01A2B"/>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441"/>
            <a:ext cx="10566400" cy="4170759"/>
          </a:xfrm>
          <a:prstGeom prst="rect">
            <a:avLst/>
          </a:prstGeom>
          <a:noFill/>
          <a:ln/>
        </p:spPr>
        <p:txBody>
          <a:bodyPr wrap="square" lIns="0" tIns="0" rIns="0" bIns="0" rtlCol="0" anchor="t"/>
          <a:lstStyle>
            <a:lvl1pPr algn="l" indent="0" marL="0">
              <a:lnSpc>
                <a:spcPct val="140000"/>
              </a:lnSpc>
              <a:buNone/>
              <a:defRPr lang="en-US" sz="1600" dirty="0">
                <a:solidFill>
                  <a:srgbClr val="101A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01A2B"/>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441"/>
            <a:ext cx="10566400" cy="4170759"/>
          </a:xfrm>
          <a:prstGeom prst="rect">
            <a:avLst/>
          </a:prstGeom>
          <a:noFill/>
          <a:ln/>
        </p:spPr>
        <p:txBody>
          <a:bodyPr wrap="square" lIns="0" tIns="0" rIns="0" bIns="0" rtlCol="0" anchor="t"/>
          <a:lstStyle>
            <a:lvl1pPr algn="l" indent="0" marL="0">
              <a:lnSpc>
                <a:spcPct val="140000"/>
              </a:lnSpc>
              <a:buNone/>
              <a:defRPr lang="en-US" sz="1600" dirty="0">
                <a:solidFill>
                  <a:srgbClr val="101A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slideLayout" Target="../slideLayouts/slideLayout2.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A2B"/>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6985000" y="1460500"/>
            <a:ext cx="3810000" cy="3810000"/>
          </a:xfrm>
          <a:prstGeom prst="rect">
            <a:avLst/>
          </a:prstGeom>
        </p:spPr>
      </p:pic>
      <p:pic>
        <p:nvPicPr>
          <p:cNvPr id="3" name="Image 1" descr="Warning">    </p:cNvPr>
          <p:cNvPicPr>
            <a:picLocks noChangeAspect="1"/>
          </p:cNvPicPr>
          <p:nvPr/>
        </p:nvPicPr>
        <p:blipFill>
          <a:blip r:embed="rId2"/>
          <a:srcRect l="0" r="0" t="0" b="0"/>
          <a:stretch/>
        </p:blipFill>
        <p:spPr>
          <a:xfrm>
            <a:off x="7747000" y="2222500"/>
            <a:ext cx="2286000" cy="2286000"/>
          </a:xfrm>
          <a:prstGeom prst="rect">
            <a:avLst/>
          </a:prstGeom>
        </p:spPr>
      </p:pic>
      <p:sp>
        <p:nvSpPr>
          <p:cNvPr id="4" name="Text 0"/>
          <p:cNvSpPr/>
          <p:nvPr/>
        </p:nvSpPr>
        <p:spPr>
          <a:xfrm>
            <a:off x="812800" y="17805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3A"/>
                </a:solidFill>
                <a:latin typeface="IBM Plex Sans" pitchFamily="34" charset="0"/>
                <a:ea typeface="IBM Plex Sans" pitchFamily="34" charset="-122"/>
                <a:cs typeface="IBM Plex Sans" pitchFamily="34" charset="-120"/>
              </a:rPr>
              <a:t>CYBERSECURITY AWARENESS</a:t>
            </a:r>
            <a:endParaRPr lang="en-US" sz="1200" dirty="0"/>
          </a:p>
        </p:txBody>
      </p:sp>
      <p:sp>
        <p:nvSpPr>
          <p:cNvPr id="5" name="Text 1"/>
          <p:cNvSpPr/>
          <p:nvPr>
            <p:ph type="title"/>
          </p:nvPr>
        </p:nvSpPr>
        <p:spPr>
          <a:xfrm>
            <a:off x="812800" y="2197100"/>
            <a:ext cx="10883392" cy="2372271"/>
          </a:xfrm>
          <a:prstGeom prst="rect">
            <a:avLst/>
          </a:prstGeom>
          <a:noFill/>
          <a:ln/>
        </p:spPr>
        <p:txBody>
          <a:bodyPr wrap="square" lIns="0" tIns="0" rIns="0" bIns="0" rtlCol="0" anchor="t">
            <a:normAutofit/>
          </a:bodyPr>
          <a:lstStyle/>
          <a:p>
            <a:pPr algn="l" indent="0" marL="0">
              <a:lnSpc>
                <a:spcPts val="6160"/>
              </a:lnSpc>
              <a:buNone/>
            </a:pPr>
            <a:r>
              <a:rPr lang="en-US" sz="5600" b="1" i="0" dirty="0">
                <a:solidFill>
                  <a:srgbClr val="F5F6F2"/>
                </a:solidFill>
                <a:latin typeface="Rubik" pitchFamily="34" charset="0"/>
                <a:ea typeface="Rubik" pitchFamily="34" charset="-122"/>
                <a:cs typeface="Rubik" pitchFamily="34" charset="-120"/>
              </a:rPr>
              <a:t>Phishing</a:t>
            </a:r>
            <a:endParaRPr lang="en-US" sz="5600" dirty="0"/>
          </a:p>
          <a:p>
            <a:pPr algn="l" indent="0" marL="0">
              <a:lnSpc>
                <a:spcPts val="6160"/>
              </a:lnSpc>
              <a:buNone/>
            </a:pPr>
            <a:r>
              <a:rPr lang="en-US" sz="5600" b="1" i="0" dirty="0">
                <a:solidFill>
                  <a:srgbClr val="F5F6F2"/>
                </a:solidFill>
                <a:latin typeface="Rubik" pitchFamily="34" charset="0"/>
                <a:ea typeface="Rubik" pitchFamily="34" charset="-122"/>
                <a:cs typeface="Rubik" pitchFamily="34" charset="-120"/>
              </a:rPr>
              <a:t>Awareness</a:t>
            </a:r>
            <a:endParaRPr lang="en-US" sz="5600" dirty="0"/>
          </a:p>
          <a:p>
            <a:pPr algn="l" indent="0" marL="0">
              <a:lnSpc>
                <a:spcPts val="6160"/>
              </a:lnSpc>
              <a:buNone/>
            </a:pPr>
            <a:r>
              <a:rPr lang="en-US" sz="5600" b="1" i="0" dirty="0">
                <a:solidFill>
                  <a:srgbClr val="F5F6F2"/>
                </a:solidFill>
                <a:latin typeface="Rubik" pitchFamily="34" charset="0"/>
                <a:ea typeface="Rubik" pitchFamily="34" charset="-122"/>
                <a:cs typeface="Rubik" pitchFamily="34" charset="-120"/>
              </a:rPr>
              <a:t>Training</a:t>
            </a:r>
            <a:endParaRPr lang="en-US" sz="5600" dirty="0"/>
          </a:p>
        </p:txBody>
      </p:sp>
      <p:sp>
        <p:nvSpPr>
          <p:cNvPr id="6" name="Text 2"/>
          <p:cNvSpPr/>
          <p:nvPr/>
        </p:nvSpPr>
        <p:spPr>
          <a:xfrm>
            <a:off x="812800" y="4747171"/>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5D0E0"/>
                </a:solidFill>
                <a:latin typeface="IBM Plex Sans" pitchFamily="34" charset="0"/>
                <a:ea typeface="IBM Plex Sans" pitchFamily="34" charset="-122"/>
                <a:cs typeface="IBM Plex Sans" pitchFamily="34" charset="-120"/>
              </a:rPr>
              <a:t>Recognize it. Resist it. Report it.</a:t>
            </a:r>
            <a:endParaRPr lang="en-US" sz="2000" dirty="0"/>
          </a:p>
        </p:txBody>
      </p:sp>
      <p:sp>
        <p:nvSpPr>
          <p:cNvPr id="7" name="Text 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C"/>
                </a:solidFill>
                <a:latin typeface="IBM Plex Sans" pitchFamily="34" charset="0"/>
                <a:ea typeface="IBM Plex Sans" pitchFamily="34" charset="-122"/>
                <a:cs typeface="IBM Plex Sans" pitchFamily="34" charset="-120"/>
              </a:rPr>
              <a:t>Prepared by [Your name] · Real-world examples and 4 interactive quizzes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9"/>
                </a:solidFill>
                <a:latin typeface="IBM Plex Sans" pitchFamily="34" charset="0"/>
                <a:ea typeface="IBM Plex Sans" pitchFamily="34" charset="-122"/>
                <a:cs typeface="IBM Plex Sans" pitchFamily="34" charset="-120"/>
              </a:rPr>
              <a:t>OVERVIEW</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1A2B"/>
                </a:solidFill>
                <a:latin typeface="Rubik" pitchFamily="34" charset="0"/>
                <a:ea typeface="Rubik" pitchFamily="34" charset="-122"/>
                <a:cs typeface="Rubik" pitchFamily="34" charset="-120"/>
              </a:rPr>
              <a:t>What we will cover</a:t>
            </a:r>
            <a:endParaRPr lang="en-US" sz="3200" dirty="0"/>
          </a:p>
        </p:txBody>
      </p:sp>
      <p:sp>
        <p:nvSpPr>
          <p:cNvPr id="4" name="Shape 2"/>
          <p:cNvSpPr/>
          <p:nvPr/>
        </p:nvSpPr>
        <p:spPr>
          <a:xfrm>
            <a:off x="815975" y="1877616"/>
            <a:ext cx="5200650" cy="887710"/>
          </a:xfrm>
          <a:prstGeom prst="roundRect">
            <a:avLst>
              <a:gd name="adj" fmla="val 11088"/>
            </a:avLst>
          </a:prstGeom>
          <a:solidFill>
            <a:srgbClr val="FFFFFF"/>
          </a:solidFill>
          <a:ln w="6350">
            <a:solidFill>
              <a:srgbClr val="DDE1DA"/>
            </a:solidFill>
            <a:prstDash val="solid"/>
          </a:ln>
        </p:spPr>
      </p:sp>
      <p:sp>
        <p:nvSpPr>
          <p:cNvPr id="5" name="Text 3"/>
          <p:cNvSpPr/>
          <p:nvPr/>
        </p:nvSpPr>
        <p:spPr>
          <a:xfrm>
            <a:off x="1022350" y="2058591"/>
            <a:ext cx="489883"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7766F"/>
                </a:solidFill>
                <a:latin typeface="Rubik" pitchFamily="34" charset="0"/>
                <a:ea typeface="Rubik" pitchFamily="34" charset="-122"/>
                <a:cs typeface="Rubik" pitchFamily="34" charset="-120"/>
              </a:rPr>
              <a:t>01</a:t>
            </a:r>
            <a:endParaRPr lang="en-US" sz="2800" dirty="0"/>
          </a:p>
        </p:txBody>
      </p:sp>
      <p:sp>
        <p:nvSpPr>
          <p:cNvPr id="6" name="Text 4"/>
          <p:cNvSpPr/>
          <p:nvPr/>
        </p:nvSpPr>
        <p:spPr>
          <a:xfrm>
            <a:off x="1608386" y="2058591"/>
            <a:ext cx="43279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Phishing basics</a:t>
            </a:r>
            <a:endParaRPr lang="en-US" sz="1600" dirty="0"/>
          </a:p>
        </p:txBody>
      </p:sp>
      <p:sp>
        <p:nvSpPr>
          <p:cNvPr id="7" name="Text 5"/>
          <p:cNvSpPr/>
          <p:nvPr/>
        </p:nvSpPr>
        <p:spPr>
          <a:xfrm>
            <a:off x="1608386" y="2353221"/>
            <a:ext cx="432792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What it is, the main types, and why it works</a:t>
            </a:r>
            <a:endParaRPr lang="en-US" sz="1300" dirty="0"/>
          </a:p>
        </p:txBody>
      </p:sp>
      <p:sp>
        <p:nvSpPr>
          <p:cNvPr id="8" name="Shape 6"/>
          <p:cNvSpPr/>
          <p:nvPr/>
        </p:nvSpPr>
        <p:spPr>
          <a:xfrm>
            <a:off x="6175375" y="1877616"/>
            <a:ext cx="5200650" cy="887710"/>
          </a:xfrm>
          <a:prstGeom prst="roundRect">
            <a:avLst>
              <a:gd name="adj" fmla="val 11088"/>
            </a:avLst>
          </a:prstGeom>
          <a:solidFill>
            <a:srgbClr val="FFFFFF"/>
          </a:solidFill>
          <a:ln w="6350">
            <a:solidFill>
              <a:srgbClr val="DDE1DA"/>
            </a:solidFill>
            <a:prstDash val="solid"/>
          </a:ln>
        </p:spPr>
      </p:sp>
      <p:sp>
        <p:nvSpPr>
          <p:cNvPr id="9" name="Text 7"/>
          <p:cNvSpPr/>
          <p:nvPr/>
        </p:nvSpPr>
        <p:spPr>
          <a:xfrm>
            <a:off x="6381750" y="2058591"/>
            <a:ext cx="55560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7766F"/>
                </a:solidFill>
                <a:latin typeface="Rubik" pitchFamily="34" charset="0"/>
                <a:ea typeface="Rubik" pitchFamily="34" charset="-122"/>
                <a:cs typeface="Rubik" pitchFamily="34" charset="-120"/>
              </a:rPr>
              <a:t>02</a:t>
            </a:r>
            <a:endParaRPr lang="en-US" sz="2800" dirty="0"/>
          </a:p>
        </p:txBody>
      </p:sp>
      <p:sp>
        <p:nvSpPr>
          <p:cNvPr id="10" name="Text 8"/>
          <p:cNvSpPr/>
          <p:nvPr/>
        </p:nvSpPr>
        <p:spPr>
          <a:xfrm>
            <a:off x="7022554" y="2058591"/>
            <a:ext cx="427150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Phishing emails</a:t>
            </a:r>
            <a:endParaRPr lang="en-US" sz="1600" dirty="0"/>
          </a:p>
        </p:txBody>
      </p:sp>
      <p:sp>
        <p:nvSpPr>
          <p:cNvPr id="11" name="Text 9"/>
          <p:cNvSpPr/>
          <p:nvPr/>
        </p:nvSpPr>
        <p:spPr>
          <a:xfrm>
            <a:off x="7022554" y="2353221"/>
            <a:ext cx="427150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The red flags to look for before you click</a:t>
            </a:r>
            <a:endParaRPr lang="en-US" sz="1300" dirty="0"/>
          </a:p>
        </p:txBody>
      </p:sp>
      <p:sp>
        <p:nvSpPr>
          <p:cNvPr id="12" name="Shape 10"/>
          <p:cNvSpPr/>
          <p:nvPr/>
        </p:nvSpPr>
        <p:spPr>
          <a:xfrm>
            <a:off x="815975" y="2924076"/>
            <a:ext cx="5200650" cy="887710"/>
          </a:xfrm>
          <a:prstGeom prst="roundRect">
            <a:avLst>
              <a:gd name="adj" fmla="val 11088"/>
            </a:avLst>
          </a:prstGeom>
          <a:solidFill>
            <a:srgbClr val="FFFFFF"/>
          </a:solidFill>
          <a:ln w="6350">
            <a:solidFill>
              <a:srgbClr val="DDE1DA"/>
            </a:solidFill>
            <a:prstDash val="solid"/>
          </a:ln>
        </p:spPr>
      </p:sp>
      <p:sp>
        <p:nvSpPr>
          <p:cNvPr id="13" name="Text 11"/>
          <p:cNvSpPr/>
          <p:nvPr/>
        </p:nvSpPr>
        <p:spPr>
          <a:xfrm>
            <a:off x="1022350" y="3105051"/>
            <a:ext cx="559891"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7766F"/>
                </a:solidFill>
                <a:latin typeface="Rubik" pitchFamily="34" charset="0"/>
                <a:ea typeface="Rubik" pitchFamily="34" charset="-122"/>
                <a:cs typeface="Rubik" pitchFamily="34" charset="-120"/>
              </a:rPr>
              <a:t>03</a:t>
            </a:r>
            <a:endParaRPr lang="en-US" sz="2800" dirty="0"/>
          </a:p>
        </p:txBody>
      </p:sp>
      <p:sp>
        <p:nvSpPr>
          <p:cNvPr id="14" name="Text 12"/>
          <p:cNvSpPr/>
          <p:nvPr/>
        </p:nvSpPr>
        <p:spPr>
          <a:xfrm>
            <a:off x="1666726" y="3105051"/>
            <a:ext cx="426783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Fake websites</a:t>
            </a:r>
            <a:endParaRPr lang="en-US" sz="1600" dirty="0"/>
          </a:p>
        </p:txBody>
      </p:sp>
      <p:sp>
        <p:nvSpPr>
          <p:cNvPr id="15" name="Text 13"/>
          <p:cNvSpPr/>
          <p:nvPr/>
        </p:nvSpPr>
        <p:spPr>
          <a:xfrm>
            <a:off x="1666726" y="3399681"/>
            <a:ext cx="426783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Lookalike addresses and fake login pages</a:t>
            </a:r>
            <a:endParaRPr lang="en-US" sz="1300" dirty="0"/>
          </a:p>
        </p:txBody>
      </p:sp>
      <p:sp>
        <p:nvSpPr>
          <p:cNvPr id="16" name="Shape 14"/>
          <p:cNvSpPr/>
          <p:nvPr/>
        </p:nvSpPr>
        <p:spPr>
          <a:xfrm>
            <a:off x="6175375" y="2924076"/>
            <a:ext cx="5200650" cy="887710"/>
          </a:xfrm>
          <a:prstGeom prst="roundRect">
            <a:avLst>
              <a:gd name="adj" fmla="val 11088"/>
            </a:avLst>
          </a:prstGeom>
          <a:solidFill>
            <a:srgbClr val="FFFFFF"/>
          </a:solidFill>
          <a:ln w="6350">
            <a:solidFill>
              <a:srgbClr val="DDE1DA"/>
            </a:solidFill>
            <a:prstDash val="solid"/>
          </a:ln>
        </p:spPr>
      </p:sp>
      <p:sp>
        <p:nvSpPr>
          <p:cNvPr id="17" name="Text 15"/>
          <p:cNvSpPr/>
          <p:nvPr/>
        </p:nvSpPr>
        <p:spPr>
          <a:xfrm>
            <a:off x="6381750" y="3105051"/>
            <a:ext cx="569297"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7766F"/>
                </a:solidFill>
                <a:latin typeface="Rubik" pitchFamily="34" charset="0"/>
                <a:ea typeface="Rubik" pitchFamily="34" charset="-122"/>
                <a:cs typeface="Rubik" pitchFamily="34" charset="-120"/>
              </a:rPr>
              <a:t>04</a:t>
            </a:r>
            <a:endParaRPr lang="en-US" sz="2800" dirty="0"/>
          </a:p>
        </p:txBody>
      </p:sp>
      <p:sp>
        <p:nvSpPr>
          <p:cNvPr id="18" name="Text 16"/>
          <p:cNvSpPr/>
          <p:nvPr/>
        </p:nvSpPr>
        <p:spPr>
          <a:xfrm>
            <a:off x="7033964" y="3105051"/>
            <a:ext cx="425975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Social engineering</a:t>
            </a:r>
            <a:endParaRPr lang="en-US" sz="1600" dirty="0"/>
          </a:p>
        </p:txBody>
      </p:sp>
      <p:sp>
        <p:nvSpPr>
          <p:cNvPr id="19" name="Text 17"/>
          <p:cNvSpPr/>
          <p:nvPr/>
        </p:nvSpPr>
        <p:spPr>
          <a:xfrm>
            <a:off x="7033964" y="3399681"/>
            <a:ext cx="425975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The psychological tricks attackers use</a:t>
            </a:r>
            <a:endParaRPr lang="en-US" sz="1300" dirty="0"/>
          </a:p>
        </p:txBody>
      </p:sp>
      <p:sp>
        <p:nvSpPr>
          <p:cNvPr id="20" name="Shape 18"/>
          <p:cNvSpPr/>
          <p:nvPr/>
        </p:nvSpPr>
        <p:spPr>
          <a:xfrm>
            <a:off x="815975" y="3970536"/>
            <a:ext cx="5200650" cy="887710"/>
          </a:xfrm>
          <a:prstGeom prst="roundRect">
            <a:avLst>
              <a:gd name="adj" fmla="val 11088"/>
            </a:avLst>
          </a:prstGeom>
          <a:solidFill>
            <a:srgbClr val="FFFFFF"/>
          </a:solidFill>
          <a:ln w="6350">
            <a:solidFill>
              <a:srgbClr val="DDE1DA"/>
            </a:solidFill>
            <a:prstDash val="solid"/>
          </a:ln>
        </p:spPr>
      </p:sp>
      <p:sp>
        <p:nvSpPr>
          <p:cNvPr id="21" name="Text 19"/>
          <p:cNvSpPr/>
          <p:nvPr/>
        </p:nvSpPr>
        <p:spPr>
          <a:xfrm>
            <a:off x="1022350" y="4151511"/>
            <a:ext cx="555188"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7766F"/>
                </a:solidFill>
                <a:latin typeface="Rubik" pitchFamily="34" charset="0"/>
                <a:ea typeface="Rubik" pitchFamily="34" charset="-122"/>
                <a:cs typeface="Rubik" pitchFamily="34" charset="-120"/>
              </a:rPr>
              <a:t>05</a:t>
            </a:r>
            <a:endParaRPr lang="en-US" sz="2800" dirty="0"/>
          </a:p>
        </p:txBody>
      </p:sp>
      <p:sp>
        <p:nvSpPr>
          <p:cNvPr id="22" name="Text 20"/>
          <p:cNvSpPr/>
          <p:nvPr/>
        </p:nvSpPr>
        <p:spPr>
          <a:xfrm>
            <a:off x="1662807" y="4151511"/>
            <a:ext cx="427186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Real-world cases</a:t>
            </a:r>
            <a:endParaRPr lang="en-US" sz="1600" dirty="0"/>
          </a:p>
        </p:txBody>
      </p:sp>
      <p:sp>
        <p:nvSpPr>
          <p:cNvPr id="23" name="Text 21"/>
          <p:cNvSpPr/>
          <p:nvPr/>
        </p:nvSpPr>
        <p:spPr>
          <a:xfrm>
            <a:off x="1662807" y="4446141"/>
            <a:ext cx="427186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Incidents that show what is at stake</a:t>
            </a:r>
            <a:endParaRPr lang="en-US" sz="1300" dirty="0"/>
          </a:p>
        </p:txBody>
      </p:sp>
      <p:sp>
        <p:nvSpPr>
          <p:cNvPr id="24" name="Shape 22"/>
          <p:cNvSpPr/>
          <p:nvPr/>
        </p:nvSpPr>
        <p:spPr>
          <a:xfrm>
            <a:off x="6175375" y="3970536"/>
            <a:ext cx="5200650" cy="887710"/>
          </a:xfrm>
          <a:prstGeom prst="roundRect">
            <a:avLst>
              <a:gd name="adj" fmla="val 11088"/>
            </a:avLst>
          </a:prstGeom>
          <a:solidFill>
            <a:srgbClr val="FFFFFF"/>
          </a:solidFill>
          <a:ln w="6350">
            <a:solidFill>
              <a:srgbClr val="DDE1DA"/>
            </a:solidFill>
            <a:prstDash val="solid"/>
          </a:ln>
        </p:spPr>
      </p:sp>
      <p:sp>
        <p:nvSpPr>
          <p:cNvPr id="25" name="Text 23"/>
          <p:cNvSpPr/>
          <p:nvPr/>
        </p:nvSpPr>
        <p:spPr>
          <a:xfrm>
            <a:off x="6381750" y="4151511"/>
            <a:ext cx="557748"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7766F"/>
                </a:solidFill>
                <a:latin typeface="Rubik" pitchFamily="34" charset="0"/>
                <a:ea typeface="Rubik" pitchFamily="34" charset="-122"/>
                <a:cs typeface="Rubik" pitchFamily="34" charset="-120"/>
              </a:rPr>
              <a:t>06</a:t>
            </a:r>
            <a:endParaRPr lang="en-US" sz="2800" dirty="0"/>
          </a:p>
        </p:txBody>
      </p:sp>
      <p:sp>
        <p:nvSpPr>
          <p:cNvPr id="26" name="Text 24"/>
          <p:cNvSpPr/>
          <p:nvPr/>
        </p:nvSpPr>
        <p:spPr>
          <a:xfrm>
            <a:off x="7024340" y="4151511"/>
            <a:ext cx="426966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Stay safe</a:t>
            </a:r>
            <a:endParaRPr lang="en-US" sz="1600" dirty="0"/>
          </a:p>
        </p:txBody>
      </p:sp>
      <p:sp>
        <p:nvSpPr>
          <p:cNvPr id="27" name="Text 25"/>
          <p:cNvSpPr/>
          <p:nvPr/>
        </p:nvSpPr>
        <p:spPr>
          <a:xfrm>
            <a:off x="7024340" y="4446141"/>
            <a:ext cx="426966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Best practices, a response plan and 4 quizzes</a:t>
            </a:r>
            <a:endParaRPr lang="en-US" sz="1300" dirty="0"/>
          </a:p>
        </p:txBody>
      </p:sp>
      <p:sp>
        <p:nvSpPr>
          <p:cNvPr id="28" name="Text 2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Phishing Awareness Training</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9"/>
                </a:solidFill>
                <a:latin typeface="IBM Plex Sans" pitchFamily="34" charset="0"/>
                <a:ea typeface="IBM Plex Sans" pitchFamily="34" charset="-122"/>
                <a:cs typeface="IBM Plex Sans" pitchFamily="34" charset="-120"/>
              </a:rPr>
              <a:t>PHISHING BASICS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1A2B"/>
                </a:solidFill>
                <a:latin typeface="Rubik" pitchFamily="34" charset="0"/>
                <a:ea typeface="Rubik" pitchFamily="34" charset="-122"/>
                <a:cs typeface="Rubik" pitchFamily="34" charset="-120"/>
              </a:rPr>
              <a:t>What is phishing?</a:t>
            </a:r>
            <a:endParaRPr lang="en-US" sz="3200" dirty="0"/>
          </a:p>
        </p:txBody>
      </p:sp>
      <p:sp>
        <p:nvSpPr>
          <p:cNvPr id="4" name="Text 2"/>
          <p:cNvSpPr/>
          <p:nvPr/>
        </p:nvSpPr>
        <p:spPr>
          <a:xfrm>
            <a:off x="812800" y="1823641"/>
            <a:ext cx="10883392"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01A2B"/>
                </a:solidFill>
                <a:latin typeface="IBM Plex Sans" pitchFamily="34" charset="0"/>
                <a:ea typeface="IBM Plex Sans" pitchFamily="34" charset="-122"/>
                <a:cs typeface="IBM Plex Sans" pitchFamily="34" charset="-120"/>
              </a:rPr>
              <a:t>Phishing is a fraudulent message that tricks you into handing over passwords, money or access by pretending to be someone you trust.</a:t>
            </a:r>
            <a:endParaRPr lang="en-US" sz="1800" dirty="0"/>
          </a:p>
        </p:txBody>
      </p:sp>
      <p:sp>
        <p:nvSpPr>
          <p:cNvPr id="5" name="Shape 3"/>
          <p:cNvSpPr/>
          <p:nvPr/>
        </p:nvSpPr>
        <p:spPr>
          <a:xfrm>
            <a:off x="815975" y="2720876"/>
            <a:ext cx="3414167" cy="1118840"/>
          </a:xfrm>
          <a:prstGeom prst="roundRect">
            <a:avLst>
              <a:gd name="adj" fmla="val 8797"/>
            </a:avLst>
          </a:prstGeom>
          <a:solidFill>
            <a:srgbClr val="FFFFFF"/>
          </a:solidFill>
          <a:ln w="6350">
            <a:solidFill>
              <a:srgbClr val="DDE1DA"/>
            </a:solidFill>
            <a:prstDash val="solid"/>
          </a:ln>
        </p:spPr>
      </p:sp>
      <p:sp>
        <p:nvSpPr>
          <p:cNvPr id="6" name="Text 4"/>
          <p:cNvSpPr/>
          <p:nvPr/>
        </p:nvSpPr>
        <p:spPr>
          <a:xfrm>
            <a:off x="1022350" y="290185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766F"/>
                </a:solidFill>
                <a:latin typeface="IBM Plex Sans" pitchFamily="34" charset="0"/>
                <a:ea typeface="IBM Plex Sans" pitchFamily="34" charset="-122"/>
                <a:cs typeface="IBM Plex Sans" pitchFamily="34" charset="-120"/>
              </a:rPr>
              <a:t>Email phishing</a:t>
            </a:r>
            <a:endParaRPr lang="en-US" sz="1600" dirty="0"/>
          </a:p>
        </p:txBody>
      </p:sp>
      <p:sp>
        <p:nvSpPr>
          <p:cNvPr id="7" name="Text 5"/>
          <p:cNvSpPr/>
          <p:nvPr/>
        </p:nvSpPr>
        <p:spPr>
          <a:xfrm>
            <a:off x="1022350" y="3196481"/>
            <a:ext cx="309145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Mass emails posing as banks, couriers or online services</a:t>
            </a:r>
            <a:endParaRPr lang="en-US" sz="1300" dirty="0"/>
          </a:p>
        </p:txBody>
      </p:sp>
      <p:sp>
        <p:nvSpPr>
          <p:cNvPr id="8" name="Shape 6"/>
          <p:cNvSpPr/>
          <p:nvPr/>
        </p:nvSpPr>
        <p:spPr>
          <a:xfrm>
            <a:off x="4388892" y="2720876"/>
            <a:ext cx="3414167" cy="1118840"/>
          </a:xfrm>
          <a:prstGeom prst="roundRect">
            <a:avLst>
              <a:gd name="adj" fmla="val 8797"/>
            </a:avLst>
          </a:prstGeom>
          <a:solidFill>
            <a:srgbClr val="FFFFFF"/>
          </a:solidFill>
          <a:ln w="6350">
            <a:solidFill>
              <a:srgbClr val="DDE1DA"/>
            </a:solidFill>
            <a:prstDash val="solid"/>
          </a:ln>
        </p:spPr>
      </p:sp>
      <p:sp>
        <p:nvSpPr>
          <p:cNvPr id="9" name="Text 7"/>
          <p:cNvSpPr/>
          <p:nvPr/>
        </p:nvSpPr>
        <p:spPr>
          <a:xfrm>
            <a:off x="4595267" y="290185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766F"/>
                </a:solidFill>
                <a:latin typeface="IBM Plex Sans" pitchFamily="34" charset="0"/>
                <a:ea typeface="IBM Plex Sans" pitchFamily="34" charset="-122"/>
                <a:cs typeface="IBM Plex Sans" pitchFamily="34" charset="-120"/>
              </a:rPr>
              <a:t>Spear phishing</a:t>
            </a:r>
            <a:endParaRPr lang="en-US" sz="1600" dirty="0"/>
          </a:p>
        </p:txBody>
      </p:sp>
      <p:sp>
        <p:nvSpPr>
          <p:cNvPr id="10" name="Text 8"/>
          <p:cNvSpPr/>
          <p:nvPr/>
        </p:nvSpPr>
        <p:spPr>
          <a:xfrm>
            <a:off x="4595267" y="3196481"/>
            <a:ext cx="309145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Aimed at one person, using details gathered about them</a:t>
            </a:r>
            <a:endParaRPr lang="en-US" sz="1300" dirty="0"/>
          </a:p>
        </p:txBody>
      </p:sp>
      <p:sp>
        <p:nvSpPr>
          <p:cNvPr id="11" name="Shape 9"/>
          <p:cNvSpPr/>
          <p:nvPr/>
        </p:nvSpPr>
        <p:spPr>
          <a:xfrm>
            <a:off x="7961809" y="2720876"/>
            <a:ext cx="3414216" cy="1118840"/>
          </a:xfrm>
          <a:prstGeom prst="roundRect">
            <a:avLst>
              <a:gd name="adj" fmla="val 8797"/>
            </a:avLst>
          </a:prstGeom>
          <a:solidFill>
            <a:srgbClr val="FFFFFF"/>
          </a:solidFill>
          <a:ln w="6350">
            <a:solidFill>
              <a:srgbClr val="DDE1DA"/>
            </a:solidFill>
            <a:prstDash val="solid"/>
          </a:ln>
        </p:spPr>
      </p:sp>
      <p:sp>
        <p:nvSpPr>
          <p:cNvPr id="12" name="Text 10"/>
          <p:cNvSpPr/>
          <p:nvPr/>
        </p:nvSpPr>
        <p:spPr>
          <a:xfrm>
            <a:off x="8168184" y="2901851"/>
            <a:ext cx="30915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766F"/>
                </a:solidFill>
                <a:latin typeface="IBM Plex Sans" pitchFamily="34" charset="0"/>
                <a:ea typeface="IBM Plex Sans" pitchFamily="34" charset="-122"/>
                <a:cs typeface="IBM Plex Sans" pitchFamily="34" charset="-120"/>
              </a:rPr>
              <a:t>Whaling</a:t>
            </a:r>
            <a:endParaRPr lang="en-US" sz="1600" dirty="0"/>
          </a:p>
        </p:txBody>
      </p:sp>
      <p:sp>
        <p:nvSpPr>
          <p:cNvPr id="13" name="Text 11"/>
          <p:cNvSpPr/>
          <p:nvPr/>
        </p:nvSpPr>
        <p:spPr>
          <a:xfrm>
            <a:off x="8168184" y="3196481"/>
            <a:ext cx="309151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Aimed at executives or people who approve payments</a:t>
            </a:r>
            <a:endParaRPr lang="en-US" sz="1300" dirty="0"/>
          </a:p>
        </p:txBody>
      </p:sp>
      <p:sp>
        <p:nvSpPr>
          <p:cNvPr id="14" name="Shape 12"/>
          <p:cNvSpPr/>
          <p:nvPr/>
        </p:nvSpPr>
        <p:spPr>
          <a:xfrm>
            <a:off x="815975" y="3998466"/>
            <a:ext cx="3414167" cy="1118840"/>
          </a:xfrm>
          <a:prstGeom prst="roundRect">
            <a:avLst>
              <a:gd name="adj" fmla="val 8797"/>
            </a:avLst>
          </a:prstGeom>
          <a:solidFill>
            <a:srgbClr val="FFFFFF"/>
          </a:solidFill>
          <a:ln w="6350">
            <a:solidFill>
              <a:srgbClr val="DDE1DA"/>
            </a:solidFill>
            <a:prstDash val="solid"/>
          </a:ln>
        </p:spPr>
      </p:sp>
      <p:sp>
        <p:nvSpPr>
          <p:cNvPr id="15" name="Text 13"/>
          <p:cNvSpPr/>
          <p:nvPr/>
        </p:nvSpPr>
        <p:spPr>
          <a:xfrm>
            <a:off x="1022350" y="417944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766F"/>
                </a:solidFill>
                <a:latin typeface="IBM Plex Sans" pitchFamily="34" charset="0"/>
                <a:ea typeface="IBM Plex Sans" pitchFamily="34" charset="-122"/>
                <a:cs typeface="IBM Plex Sans" pitchFamily="34" charset="-120"/>
              </a:rPr>
              <a:t>Smishing</a:t>
            </a:r>
            <a:endParaRPr lang="en-US" sz="1600" dirty="0"/>
          </a:p>
        </p:txBody>
      </p:sp>
      <p:sp>
        <p:nvSpPr>
          <p:cNvPr id="16" name="Text 14"/>
          <p:cNvSpPr/>
          <p:nvPr/>
        </p:nvSpPr>
        <p:spPr>
          <a:xfrm>
            <a:off x="1022350" y="4474071"/>
            <a:ext cx="309145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Fake SMS or chat messages with a link or phone number</a:t>
            </a:r>
            <a:endParaRPr lang="en-US" sz="1300" dirty="0"/>
          </a:p>
        </p:txBody>
      </p:sp>
      <p:sp>
        <p:nvSpPr>
          <p:cNvPr id="17" name="Shape 15"/>
          <p:cNvSpPr/>
          <p:nvPr/>
        </p:nvSpPr>
        <p:spPr>
          <a:xfrm>
            <a:off x="4388892" y="3998466"/>
            <a:ext cx="3414167" cy="1118840"/>
          </a:xfrm>
          <a:prstGeom prst="roundRect">
            <a:avLst>
              <a:gd name="adj" fmla="val 8797"/>
            </a:avLst>
          </a:prstGeom>
          <a:solidFill>
            <a:srgbClr val="FFFFFF"/>
          </a:solidFill>
          <a:ln w="6350">
            <a:solidFill>
              <a:srgbClr val="DDE1DA"/>
            </a:solidFill>
            <a:prstDash val="solid"/>
          </a:ln>
        </p:spPr>
      </p:sp>
      <p:sp>
        <p:nvSpPr>
          <p:cNvPr id="18" name="Text 16"/>
          <p:cNvSpPr/>
          <p:nvPr/>
        </p:nvSpPr>
        <p:spPr>
          <a:xfrm>
            <a:off x="4595267" y="417944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766F"/>
                </a:solidFill>
                <a:latin typeface="IBM Plex Sans" pitchFamily="34" charset="0"/>
                <a:ea typeface="IBM Plex Sans" pitchFamily="34" charset="-122"/>
                <a:cs typeface="IBM Plex Sans" pitchFamily="34" charset="-120"/>
              </a:rPr>
              <a:t>Vishing</a:t>
            </a:r>
            <a:endParaRPr lang="en-US" sz="1600" dirty="0"/>
          </a:p>
        </p:txBody>
      </p:sp>
      <p:sp>
        <p:nvSpPr>
          <p:cNvPr id="19" name="Text 17"/>
          <p:cNvSpPr/>
          <p:nvPr/>
        </p:nvSpPr>
        <p:spPr>
          <a:xfrm>
            <a:off x="4595267" y="4474071"/>
            <a:ext cx="309145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Phone calls pretending to be a bank or support agent</a:t>
            </a:r>
            <a:endParaRPr lang="en-US" sz="1300" dirty="0"/>
          </a:p>
        </p:txBody>
      </p:sp>
      <p:sp>
        <p:nvSpPr>
          <p:cNvPr id="20" name="Shape 18"/>
          <p:cNvSpPr/>
          <p:nvPr/>
        </p:nvSpPr>
        <p:spPr>
          <a:xfrm>
            <a:off x="7961809" y="3998466"/>
            <a:ext cx="3414216" cy="1118840"/>
          </a:xfrm>
          <a:prstGeom prst="roundRect">
            <a:avLst>
              <a:gd name="adj" fmla="val 8797"/>
            </a:avLst>
          </a:prstGeom>
          <a:solidFill>
            <a:srgbClr val="FFFFFF"/>
          </a:solidFill>
          <a:ln w="6350">
            <a:solidFill>
              <a:srgbClr val="DDE1DA"/>
            </a:solidFill>
            <a:prstDash val="solid"/>
          </a:ln>
        </p:spPr>
      </p:sp>
      <p:sp>
        <p:nvSpPr>
          <p:cNvPr id="21" name="Text 19"/>
          <p:cNvSpPr/>
          <p:nvPr/>
        </p:nvSpPr>
        <p:spPr>
          <a:xfrm>
            <a:off x="8168184" y="4179441"/>
            <a:ext cx="30915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766F"/>
                </a:solidFill>
                <a:latin typeface="IBM Plex Sans" pitchFamily="34" charset="0"/>
                <a:ea typeface="IBM Plex Sans" pitchFamily="34" charset="-122"/>
                <a:cs typeface="IBM Plex Sans" pitchFamily="34" charset="-120"/>
              </a:rPr>
              <a:t>Clone phishing</a:t>
            </a:r>
            <a:endParaRPr lang="en-US" sz="1600" dirty="0"/>
          </a:p>
        </p:txBody>
      </p:sp>
      <p:sp>
        <p:nvSpPr>
          <p:cNvPr id="22" name="Text 20"/>
          <p:cNvSpPr/>
          <p:nvPr/>
        </p:nvSpPr>
        <p:spPr>
          <a:xfrm>
            <a:off x="8168184" y="4474071"/>
            <a:ext cx="309151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 real email copied, with its link swapped for a bad one</a:t>
            </a:r>
            <a:endParaRPr lang="en-US" sz="1300" dirty="0"/>
          </a:p>
        </p:txBody>
      </p:sp>
      <p:sp>
        <p:nvSpPr>
          <p:cNvPr id="23" name="Text 2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Phishing Awareness Training</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9"/>
                </a:solidFill>
                <a:latin typeface="IBM Plex Sans" pitchFamily="34" charset="0"/>
                <a:ea typeface="IBM Plex Sans" pitchFamily="34" charset="-122"/>
                <a:cs typeface="IBM Plex Sans" pitchFamily="34" charset="-120"/>
              </a:rPr>
              <a:t>RECOGNIZING PHISHING EMAILS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1A2B"/>
                </a:solidFill>
                <a:latin typeface="Rubik" pitchFamily="34" charset="0"/>
                <a:ea typeface="Rubik" pitchFamily="34" charset="-122"/>
                <a:cs typeface="Rubik" pitchFamily="34" charset="-120"/>
              </a:rPr>
              <a:t>Anatomy of a phishing email</a:t>
            </a:r>
            <a:endParaRPr lang="en-US" sz="3200" dirty="0"/>
          </a:p>
        </p:txBody>
      </p:sp>
      <p:sp>
        <p:nvSpPr>
          <p:cNvPr id="4" name="Shape 2"/>
          <p:cNvSpPr/>
          <p:nvPr/>
        </p:nvSpPr>
        <p:spPr>
          <a:xfrm>
            <a:off x="815975" y="1877616"/>
            <a:ext cx="6089650" cy="3244701"/>
          </a:xfrm>
          <a:prstGeom prst="roundRect">
            <a:avLst>
              <a:gd name="adj" fmla="val 3033"/>
            </a:avLst>
          </a:prstGeom>
          <a:solidFill>
            <a:srgbClr val="FFFFFF"/>
          </a:solidFill>
          <a:ln w="6350">
            <a:solidFill>
              <a:srgbClr val="DDE1DA"/>
            </a:solidFill>
            <a:prstDash val="solid"/>
          </a:ln>
        </p:spPr>
      </p:sp>
      <p:sp>
        <p:nvSpPr>
          <p:cNvPr id="5" name="Text 3"/>
          <p:cNvSpPr/>
          <p:nvPr/>
        </p:nvSpPr>
        <p:spPr>
          <a:xfrm>
            <a:off x="819150" y="1880791"/>
            <a:ext cx="6083300" cy="416520"/>
          </a:xfrm>
          <a:custGeom>
            <a:avLst/>
            <a:gdLst/>
            <a:ahLst/>
            <a:cxnLst/>
            <a:rect l="l" t="t" r="r" b="b"/>
            <a:pathLst>
              <a:path w="6083300" h="416520">
                <a:moveTo>
                  <a:pt x="0" y="95250"/>
                </a:moveTo>
                <a:arcTo hR="95250" wR="95250" stAng="10800000" swAng="5400000"/>
                <a:lnTo>
                  <a:pt x="5988050" y="0"/>
                </a:lnTo>
                <a:arcTo hR="95250" wR="95250" stAng="16200000" swAng="5400000"/>
                <a:lnTo>
                  <a:pt x="6083300" y="416520"/>
                </a:lnTo>
                <a:lnTo>
                  <a:pt x="0" y="416520"/>
                </a:lnTo>
                <a:close/>
              </a:path>
            </a:pathLst>
          </a:custGeom>
          <a:solidFill>
            <a:srgbClr val="E7EAE4"/>
          </a:solidFill>
          <a:ln/>
        </p:spPr>
        <p:txBody>
          <a:bodyPr wrap="square" lIns="203200" tIns="101600" rIns="32893" bIns="7620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Inbox · Example message</a:t>
            </a:r>
            <a:endParaRPr lang="en-US" sz="1200" dirty="0"/>
          </a:p>
        </p:txBody>
      </p:sp>
      <p:sp>
        <p:nvSpPr>
          <p:cNvPr id="6" name="Text 4"/>
          <p:cNvSpPr/>
          <p:nvPr/>
        </p:nvSpPr>
        <p:spPr>
          <a:xfrm>
            <a:off x="1022350" y="2475111"/>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F2A33A"/>
          </a:solidFill>
          <a:ln/>
        </p:spPr>
        <p:txBody>
          <a:bodyPr wrap="square" lIns="0" tIns="0" rIns="0" bIns="0" rtlCol="0" anchor="ctr">
            <a:normAutofit/>
          </a:bodyPr>
          <a:lstStyle/>
          <a:p>
            <a:pPr algn="ctr" indent="0" marL="0">
              <a:lnSpc>
                <a:spcPts val="1300"/>
              </a:lnSpc>
              <a:buNone/>
            </a:pPr>
            <a:r>
              <a:rPr lang="en-US" sz="1300" b="1" dirty="0">
                <a:solidFill>
                  <a:srgbClr val="101A2B"/>
                </a:solidFill>
                <a:latin typeface="IBM Plex Sans" pitchFamily="34" charset="0"/>
                <a:ea typeface="IBM Plex Sans" pitchFamily="34" charset="-122"/>
                <a:cs typeface="IBM Plex Sans" pitchFamily="34" charset="-120"/>
              </a:rPr>
              <a:t>1</a:t>
            </a:r>
            <a:endParaRPr lang="en-US" sz="1300" dirty="0"/>
          </a:p>
        </p:txBody>
      </p:sp>
      <p:sp>
        <p:nvSpPr>
          <p:cNvPr id="7" name="Text 5"/>
          <p:cNvSpPr/>
          <p:nvPr/>
        </p:nvSpPr>
        <p:spPr>
          <a:xfrm>
            <a:off x="1403350" y="2490341"/>
            <a:ext cx="37218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From: alerts@secure-bankk-verify.com</a:t>
            </a:r>
            <a:endParaRPr lang="en-US" sz="1400" dirty="0"/>
          </a:p>
        </p:txBody>
      </p:sp>
      <p:sp>
        <p:nvSpPr>
          <p:cNvPr id="8" name="Text 6"/>
          <p:cNvSpPr/>
          <p:nvPr/>
        </p:nvSpPr>
        <p:spPr>
          <a:xfrm>
            <a:off x="1022350" y="2868811"/>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F2A33A"/>
          </a:solidFill>
          <a:ln/>
        </p:spPr>
        <p:txBody>
          <a:bodyPr wrap="square" lIns="0" tIns="0" rIns="0" bIns="0" rtlCol="0" anchor="ctr">
            <a:normAutofit/>
          </a:bodyPr>
          <a:lstStyle/>
          <a:p>
            <a:pPr algn="ctr" indent="0" marL="0">
              <a:lnSpc>
                <a:spcPts val="1300"/>
              </a:lnSpc>
              <a:buNone/>
            </a:pPr>
            <a:r>
              <a:rPr lang="en-US" sz="1300" b="1" dirty="0">
                <a:solidFill>
                  <a:srgbClr val="101A2B"/>
                </a:solidFill>
                <a:latin typeface="IBM Plex Sans" pitchFamily="34" charset="0"/>
                <a:ea typeface="IBM Plex Sans" pitchFamily="34" charset="-122"/>
                <a:cs typeface="IBM Plex Sans" pitchFamily="34" charset="-120"/>
              </a:rPr>
              <a:t>2</a:t>
            </a:r>
            <a:endParaRPr lang="en-US" sz="1300" dirty="0"/>
          </a:p>
        </p:txBody>
      </p:sp>
      <p:sp>
        <p:nvSpPr>
          <p:cNvPr id="9" name="Text 7"/>
          <p:cNvSpPr/>
          <p:nvPr/>
        </p:nvSpPr>
        <p:spPr>
          <a:xfrm>
            <a:off x="1403350" y="2884041"/>
            <a:ext cx="375386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Subject: URGENT – account suspended</a:t>
            </a:r>
            <a:endParaRPr lang="en-US" sz="1400" dirty="0"/>
          </a:p>
        </p:txBody>
      </p:sp>
      <p:sp>
        <p:nvSpPr>
          <p:cNvPr id="10" name="Text 8"/>
          <p:cNvSpPr/>
          <p:nvPr/>
        </p:nvSpPr>
        <p:spPr>
          <a:xfrm>
            <a:off x="1022350" y="3262511"/>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F2A33A"/>
          </a:solidFill>
          <a:ln/>
        </p:spPr>
        <p:txBody>
          <a:bodyPr wrap="square" lIns="0" tIns="0" rIns="0" bIns="0" rtlCol="0" anchor="ctr">
            <a:normAutofit/>
          </a:bodyPr>
          <a:lstStyle/>
          <a:p>
            <a:pPr algn="ctr" indent="0" marL="0">
              <a:lnSpc>
                <a:spcPts val="1300"/>
              </a:lnSpc>
              <a:buNone/>
            </a:pPr>
            <a:r>
              <a:rPr lang="en-US" sz="1300" b="1" dirty="0">
                <a:solidFill>
                  <a:srgbClr val="101A2B"/>
                </a:solidFill>
                <a:latin typeface="IBM Plex Sans" pitchFamily="34" charset="0"/>
                <a:ea typeface="IBM Plex Sans" pitchFamily="34" charset="-122"/>
                <a:cs typeface="IBM Plex Sans" pitchFamily="34" charset="-120"/>
              </a:rPr>
              <a:t>3</a:t>
            </a:r>
            <a:endParaRPr lang="en-US" sz="1300" dirty="0"/>
          </a:p>
        </p:txBody>
      </p:sp>
      <p:sp>
        <p:nvSpPr>
          <p:cNvPr id="11" name="Text 9"/>
          <p:cNvSpPr/>
          <p:nvPr/>
        </p:nvSpPr>
        <p:spPr>
          <a:xfrm>
            <a:off x="1403350" y="3277741"/>
            <a:ext cx="147518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Dear Customer,</a:t>
            </a:r>
            <a:endParaRPr lang="en-US" sz="1400" dirty="0"/>
          </a:p>
        </p:txBody>
      </p:sp>
      <p:sp>
        <p:nvSpPr>
          <p:cNvPr id="12" name="Text 10"/>
          <p:cNvSpPr/>
          <p:nvPr/>
        </p:nvSpPr>
        <p:spPr>
          <a:xfrm>
            <a:off x="1022350" y="3765401"/>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F2A33A"/>
          </a:solidFill>
          <a:ln/>
        </p:spPr>
        <p:txBody>
          <a:bodyPr wrap="square" lIns="0" tIns="0" rIns="0" bIns="0" rtlCol="0" anchor="ctr">
            <a:normAutofit/>
          </a:bodyPr>
          <a:lstStyle/>
          <a:p>
            <a:pPr algn="ctr" indent="0" marL="0">
              <a:lnSpc>
                <a:spcPts val="1300"/>
              </a:lnSpc>
              <a:buNone/>
            </a:pPr>
            <a:r>
              <a:rPr lang="en-US" sz="1300" b="1" dirty="0">
                <a:solidFill>
                  <a:srgbClr val="101A2B"/>
                </a:solidFill>
                <a:latin typeface="IBM Plex Sans" pitchFamily="34" charset="0"/>
                <a:ea typeface="IBM Plex Sans" pitchFamily="34" charset="-122"/>
                <a:cs typeface="IBM Plex Sans" pitchFamily="34" charset="-120"/>
              </a:rPr>
              <a:t>4</a:t>
            </a:r>
            <a:endParaRPr lang="en-US" sz="1300" dirty="0"/>
          </a:p>
        </p:txBody>
      </p:sp>
      <p:sp>
        <p:nvSpPr>
          <p:cNvPr id="13" name="Text 11"/>
          <p:cNvSpPr/>
          <p:nvPr/>
        </p:nvSpPr>
        <p:spPr>
          <a:xfrm>
            <a:off x="1403350" y="3656211"/>
            <a:ext cx="545477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We noticed unusual activity. Verify within 24 hours or your account will be closed.</a:t>
            </a:r>
            <a:endParaRPr lang="en-US" sz="1400" dirty="0"/>
          </a:p>
        </p:txBody>
      </p:sp>
      <p:sp>
        <p:nvSpPr>
          <p:cNvPr id="14" name="Text 12"/>
          <p:cNvSpPr/>
          <p:nvPr/>
        </p:nvSpPr>
        <p:spPr>
          <a:xfrm>
            <a:off x="1022350" y="4268291"/>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F2A33A"/>
          </a:solidFill>
          <a:ln/>
        </p:spPr>
        <p:txBody>
          <a:bodyPr wrap="square" lIns="0" tIns="0" rIns="0" bIns="0" rtlCol="0" anchor="ctr">
            <a:normAutofit/>
          </a:bodyPr>
          <a:lstStyle/>
          <a:p>
            <a:pPr algn="ctr" indent="0" marL="0">
              <a:lnSpc>
                <a:spcPts val="1300"/>
              </a:lnSpc>
              <a:buNone/>
            </a:pPr>
            <a:r>
              <a:rPr lang="en-US" sz="1300" b="1" dirty="0">
                <a:solidFill>
                  <a:srgbClr val="101A2B"/>
                </a:solidFill>
                <a:latin typeface="IBM Plex Sans" pitchFamily="34" charset="0"/>
                <a:ea typeface="IBM Plex Sans" pitchFamily="34" charset="-122"/>
                <a:cs typeface="IBM Plex Sans" pitchFamily="34" charset="-120"/>
              </a:rPr>
              <a:t>5</a:t>
            </a:r>
            <a:endParaRPr lang="en-US" sz="1300" dirty="0"/>
          </a:p>
        </p:txBody>
      </p:sp>
      <p:sp>
        <p:nvSpPr>
          <p:cNvPr id="15" name="Text 13"/>
          <p:cNvSpPr/>
          <p:nvPr/>
        </p:nvSpPr>
        <p:spPr>
          <a:xfrm>
            <a:off x="1403350" y="4268291"/>
            <a:ext cx="1244451" cy="365720"/>
          </a:xfrm>
          <a:prstGeom prst="roundRect">
            <a:avLst>
              <a:gd name="adj" fmla="val 17363"/>
            </a:avLst>
          </a:prstGeom>
          <a:solidFill>
            <a:srgbClr val="17766F"/>
          </a:solidFill>
          <a:ln/>
        </p:spPr>
        <p:txBody>
          <a:bodyPr wrap="none" lIns="0" tIns="0" rIns="0" bIns="0" rtlCol="0" anchor="ctr">
            <a:normAutofit/>
          </a:bodyPr>
          <a:lstStyle/>
          <a:p>
            <a:pPr algn="ctr" indent="0" marL="0">
              <a:lnSpc>
                <a:spcPts val="1680"/>
              </a:lnSpc>
              <a:buNone/>
            </a:pPr>
            <a:r>
              <a:rPr lang="en-US" sz="1400" b="1" dirty="0">
                <a:solidFill>
                  <a:srgbClr val="FFFFFF"/>
                </a:solidFill>
                <a:latin typeface="IBM Plex Sans" pitchFamily="34" charset="0"/>
                <a:ea typeface="IBM Plex Sans" pitchFamily="34" charset="-122"/>
                <a:cs typeface="IBM Plex Sans" pitchFamily="34" charset="-120"/>
              </a:rPr>
              <a:t>Verify now</a:t>
            </a:r>
            <a:endParaRPr lang="en-US" sz="1400" dirty="0"/>
          </a:p>
        </p:txBody>
      </p:sp>
      <p:sp>
        <p:nvSpPr>
          <p:cNvPr id="16" name="Text 14"/>
          <p:cNvSpPr/>
          <p:nvPr/>
        </p:nvSpPr>
        <p:spPr>
          <a:xfrm>
            <a:off x="1403350" y="4710212"/>
            <a:ext cx="3262491" cy="256530"/>
          </a:xfrm>
          <a:prstGeom prst="rect">
            <a:avLst/>
          </a:prstGeom>
          <a:noFill/>
          <a:ln/>
        </p:spPr>
        <p:txBody>
          <a:bodyPr wrap="square" lIns="0" tIns="0" rIns="0" bIns="0" rtlCol="0" anchor="t">
            <a:normAutofit/>
          </a:bodyPr>
          <a:lstStyle/>
          <a:p>
            <a:pPr algn="l" indent="0" marL="0">
              <a:lnSpc>
                <a:spcPts val="1820"/>
              </a:lnSpc>
              <a:buNone/>
            </a:pPr>
            <a:r>
              <a:rPr lang="en-US" sz="1300" u="sng" dirty="0">
                <a:solidFill>
                  <a:srgbClr val="17766F"/>
                </a:solidFill>
                <a:latin typeface="IBM Plex Sans" pitchFamily="34" charset="0"/>
                <a:ea typeface="IBM Plex Sans" pitchFamily="34" charset="-122"/>
                <a:cs typeface="IBM Plex Sans" pitchFamily="34" charset="-120"/>
              </a:rPr>
              <a:t>http://secure-bankk-verify.com/login</a:t>
            </a:r>
            <a:endParaRPr lang="en-US" sz="1300" dirty="0"/>
          </a:p>
        </p:txBody>
      </p:sp>
      <p:sp>
        <p:nvSpPr>
          <p:cNvPr id="17" name="Text 15"/>
          <p:cNvSpPr/>
          <p:nvPr/>
        </p:nvSpPr>
        <p:spPr>
          <a:xfrm>
            <a:off x="7213600" y="1874441"/>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F2A33A"/>
          </a:solidFill>
          <a:ln/>
        </p:spPr>
        <p:txBody>
          <a:bodyPr wrap="square" lIns="0" tIns="0" rIns="0" bIns="0" rtlCol="0" anchor="ctr">
            <a:normAutofit/>
          </a:bodyPr>
          <a:lstStyle/>
          <a:p>
            <a:pPr algn="ctr" indent="0" marL="0">
              <a:lnSpc>
                <a:spcPts val="1300"/>
              </a:lnSpc>
              <a:buNone/>
            </a:pPr>
            <a:r>
              <a:rPr lang="en-US" sz="1300" b="1" dirty="0">
                <a:solidFill>
                  <a:srgbClr val="101A2B"/>
                </a:solidFill>
                <a:latin typeface="IBM Plex Sans" pitchFamily="34" charset="0"/>
                <a:ea typeface="IBM Plex Sans" pitchFamily="34" charset="-122"/>
                <a:cs typeface="IBM Plex Sans" pitchFamily="34" charset="-120"/>
              </a:rPr>
              <a:t>1</a:t>
            </a:r>
            <a:endParaRPr lang="en-US" sz="1300" dirty="0"/>
          </a:p>
        </p:txBody>
      </p:sp>
      <p:sp>
        <p:nvSpPr>
          <p:cNvPr id="18" name="Text 16"/>
          <p:cNvSpPr/>
          <p:nvPr/>
        </p:nvSpPr>
        <p:spPr>
          <a:xfrm>
            <a:off x="7594600" y="1874441"/>
            <a:ext cx="41008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1A2B"/>
                </a:solidFill>
                <a:latin typeface="IBM Plex Sans" pitchFamily="34" charset="0"/>
                <a:ea typeface="IBM Plex Sans" pitchFamily="34" charset="-122"/>
                <a:cs typeface="IBM Plex Sans" pitchFamily="34" charset="-120"/>
              </a:rPr>
              <a:t>Lookalike domain.</a:t>
            </a:r>
            <a:r>
              <a:rPr lang="en-US" sz="1400" dirty="0">
                <a:solidFill>
                  <a:srgbClr val="101A2B"/>
                </a:solidFill>
                <a:latin typeface="IBM Plex Sans" pitchFamily="34" charset="0"/>
                <a:ea typeface="IBM Plex Sans" pitchFamily="34" charset="-122"/>
                <a:cs typeface="IBM Plex Sans" pitchFamily="34" charset="-120"/>
              </a:rPr>
              <a:t> “bankk” has an extra k.</a:t>
            </a:r>
            <a:endParaRPr lang="en-US" sz="1400" dirty="0"/>
          </a:p>
        </p:txBody>
      </p:sp>
      <p:sp>
        <p:nvSpPr>
          <p:cNvPr id="19" name="Text 17"/>
          <p:cNvSpPr/>
          <p:nvPr/>
        </p:nvSpPr>
        <p:spPr>
          <a:xfrm>
            <a:off x="7213600" y="2331641"/>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F2A33A"/>
          </a:solidFill>
          <a:ln/>
        </p:spPr>
        <p:txBody>
          <a:bodyPr wrap="square" lIns="0" tIns="0" rIns="0" bIns="0" rtlCol="0" anchor="ctr">
            <a:normAutofit/>
          </a:bodyPr>
          <a:lstStyle/>
          <a:p>
            <a:pPr algn="ctr" indent="0" marL="0">
              <a:lnSpc>
                <a:spcPts val="1300"/>
              </a:lnSpc>
              <a:buNone/>
            </a:pPr>
            <a:r>
              <a:rPr lang="en-US" sz="1300" b="1" dirty="0">
                <a:solidFill>
                  <a:srgbClr val="101A2B"/>
                </a:solidFill>
                <a:latin typeface="IBM Plex Sans" pitchFamily="34" charset="0"/>
                <a:ea typeface="IBM Plex Sans" pitchFamily="34" charset="-122"/>
                <a:cs typeface="IBM Plex Sans" pitchFamily="34" charset="-120"/>
              </a:rPr>
              <a:t>2</a:t>
            </a:r>
            <a:endParaRPr lang="en-US" sz="1300" dirty="0"/>
          </a:p>
        </p:txBody>
      </p:sp>
      <p:sp>
        <p:nvSpPr>
          <p:cNvPr id="20" name="Text 18"/>
          <p:cNvSpPr/>
          <p:nvPr/>
        </p:nvSpPr>
        <p:spPr>
          <a:xfrm>
            <a:off x="7594600" y="2331641"/>
            <a:ext cx="351222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1A2B"/>
                </a:solidFill>
                <a:latin typeface="IBM Plex Sans" pitchFamily="34" charset="0"/>
                <a:ea typeface="IBM Plex Sans" pitchFamily="34" charset="-122"/>
                <a:cs typeface="IBM Plex Sans" pitchFamily="34" charset="-120"/>
              </a:rPr>
              <a:t>Urgent subject.</a:t>
            </a:r>
            <a:r>
              <a:rPr lang="en-US" sz="1400" dirty="0">
                <a:solidFill>
                  <a:srgbClr val="101A2B"/>
                </a:solidFill>
                <a:latin typeface="IBM Plex Sans" pitchFamily="34" charset="0"/>
                <a:ea typeface="IBM Plex Sans" pitchFamily="34" charset="-122"/>
                <a:cs typeface="IBM Plex Sans" pitchFamily="34" charset="-120"/>
              </a:rPr>
              <a:t> Built to cause panic.</a:t>
            </a:r>
            <a:endParaRPr lang="en-US" sz="1400" dirty="0"/>
          </a:p>
        </p:txBody>
      </p:sp>
      <p:sp>
        <p:nvSpPr>
          <p:cNvPr id="21" name="Text 19"/>
          <p:cNvSpPr/>
          <p:nvPr/>
        </p:nvSpPr>
        <p:spPr>
          <a:xfrm>
            <a:off x="7213600" y="2788841"/>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F2A33A"/>
          </a:solidFill>
          <a:ln/>
        </p:spPr>
        <p:txBody>
          <a:bodyPr wrap="square" lIns="0" tIns="0" rIns="0" bIns="0" rtlCol="0" anchor="ctr">
            <a:normAutofit/>
          </a:bodyPr>
          <a:lstStyle/>
          <a:p>
            <a:pPr algn="ctr" indent="0" marL="0">
              <a:lnSpc>
                <a:spcPts val="1300"/>
              </a:lnSpc>
              <a:buNone/>
            </a:pPr>
            <a:r>
              <a:rPr lang="en-US" sz="1300" b="1" dirty="0">
                <a:solidFill>
                  <a:srgbClr val="101A2B"/>
                </a:solidFill>
                <a:latin typeface="IBM Plex Sans" pitchFamily="34" charset="0"/>
                <a:ea typeface="IBM Plex Sans" pitchFamily="34" charset="-122"/>
                <a:cs typeface="IBM Plex Sans" pitchFamily="34" charset="-120"/>
              </a:rPr>
              <a:t>3</a:t>
            </a:r>
            <a:endParaRPr lang="en-US" sz="1300" dirty="0"/>
          </a:p>
        </p:txBody>
      </p:sp>
      <p:sp>
        <p:nvSpPr>
          <p:cNvPr id="22" name="Text 20"/>
          <p:cNvSpPr/>
          <p:nvPr/>
        </p:nvSpPr>
        <p:spPr>
          <a:xfrm>
            <a:off x="7594600" y="2788841"/>
            <a:ext cx="389813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1A2B"/>
                </a:solidFill>
                <a:latin typeface="IBM Plex Sans" pitchFamily="34" charset="0"/>
                <a:ea typeface="IBM Plex Sans" pitchFamily="34" charset="-122"/>
                <a:cs typeface="IBM Plex Sans" pitchFamily="34" charset="-120"/>
              </a:rPr>
              <a:t>Generic greeting.</a:t>
            </a:r>
            <a:r>
              <a:rPr lang="en-US" sz="1400" dirty="0">
                <a:solidFill>
                  <a:srgbClr val="101A2B"/>
                </a:solidFill>
                <a:latin typeface="IBM Plex Sans" pitchFamily="34" charset="0"/>
                <a:ea typeface="IBM Plex Sans" pitchFamily="34" charset="-122"/>
                <a:cs typeface="IBM Plex Sans" pitchFamily="34" charset="-120"/>
              </a:rPr>
              <a:t> Your real bank knows your name.</a:t>
            </a:r>
            <a:endParaRPr lang="en-US" sz="1400" dirty="0"/>
          </a:p>
        </p:txBody>
      </p:sp>
      <p:sp>
        <p:nvSpPr>
          <p:cNvPr id="23" name="Text 21"/>
          <p:cNvSpPr/>
          <p:nvPr/>
        </p:nvSpPr>
        <p:spPr>
          <a:xfrm>
            <a:off x="7213600" y="3464421"/>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F2A33A"/>
          </a:solidFill>
          <a:ln/>
        </p:spPr>
        <p:txBody>
          <a:bodyPr wrap="square" lIns="0" tIns="0" rIns="0" bIns="0" rtlCol="0" anchor="ctr">
            <a:normAutofit/>
          </a:bodyPr>
          <a:lstStyle/>
          <a:p>
            <a:pPr algn="ctr" indent="0" marL="0">
              <a:lnSpc>
                <a:spcPts val="1300"/>
              </a:lnSpc>
              <a:buNone/>
            </a:pPr>
            <a:r>
              <a:rPr lang="en-US" sz="1300" b="1" dirty="0">
                <a:solidFill>
                  <a:srgbClr val="101A2B"/>
                </a:solidFill>
                <a:latin typeface="IBM Plex Sans" pitchFamily="34" charset="0"/>
                <a:ea typeface="IBM Plex Sans" pitchFamily="34" charset="-122"/>
                <a:cs typeface="IBM Plex Sans" pitchFamily="34" charset="-120"/>
              </a:rPr>
              <a:t>4</a:t>
            </a:r>
            <a:endParaRPr lang="en-US" sz="1300" dirty="0"/>
          </a:p>
        </p:txBody>
      </p:sp>
      <p:sp>
        <p:nvSpPr>
          <p:cNvPr id="24" name="Text 22"/>
          <p:cNvSpPr/>
          <p:nvPr/>
        </p:nvSpPr>
        <p:spPr>
          <a:xfrm>
            <a:off x="7594600" y="3464421"/>
            <a:ext cx="399436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1A2B"/>
                </a:solidFill>
                <a:latin typeface="IBM Plex Sans" pitchFamily="34" charset="0"/>
                <a:ea typeface="IBM Plex Sans" pitchFamily="34" charset="-122"/>
                <a:cs typeface="IBM Plex Sans" pitchFamily="34" charset="-120"/>
              </a:rPr>
              <a:t>Threat and deadline.</a:t>
            </a:r>
            <a:r>
              <a:rPr lang="en-US" sz="1400" dirty="0">
                <a:solidFill>
                  <a:srgbClr val="101A2B"/>
                </a:solidFill>
                <a:latin typeface="IBM Plex Sans" pitchFamily="34" charset="0"/>
                <a:ea typeface="IBM Plex Sans" pitchFamily="34" charset="-122"/>
                <a:cs typeface="IBM Plex Sans" pitchFamily="34" charset="-120"/>
              </a:rPr>
              <a:t> Pushes you to rush.</a:t>
            </a:r>
            <a:endParaRPr lang="en-US" sz="1400" dirty="0"/>
          </a:p>
        </p:txBody>
      </p:sp>
      <p:sp>
        <p:nvSpPr>
          <p:cNvPr id="25" name="Text 23"/>
          <p:cNvSpPr/>
          <p:nvPr/>
        </p:nvSpPr>
        <p:spPr>
          <a:xfrm>
            <a:off x="7213600" y="3921621"/>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F2A33A"/>
          </a:solidFill>
          <a:ln/>
        </p:spPr>
        <p:txBody>
          <a:bodyPr wrap="square" lIns="0" tIns="0" rIns="0" bIns="0" rtlCol="0" anchor="ctr">
            <a:normAutofit/>
          </a:bodyPr>
          <a:lstStyle/>
          <a:p>
            <a:pPr algn="ctr" indent="0" marL="0">
              <a:lnSpc>
                <a:spcPts val="1300"/>
              </a:lnSpc>
              <a:buNone/>
            </a:pPr>
            <a:r>
              <a:rPr lang="en-US" sz="1300" b="1" dirty="0">
                <a:solidFill>
                  <a:srgbClr val="101A2B"/>
                </a:solidFill>
                <a:latin typeface="IBM Plex Sans" pitchFamily="34" charset="0"/>
                <a:ea typeface="IBM Plex Sans" pitchFamily="34" charset="-122"/>
                <a:cs typeface="IBM Plex Sans" pitchFamily="34" charset="-120"/>
              </a:rPr>
              <a:t>5</a:t>
            </a:r>
            <a:endParaRPr lang="en-US" sz="1300" dirty="0"/>
          </a:p>
        </p:txBody>
      </p:sp>
      <p:sp>
        <p:nvSpPr>
          <p:cNvPr id="26" name="Text 24"/>
          <p:cNvSpPr/>
          <p:nvPr/>
        </p:nvSpPr>
        <p:spPr>
          <a:xfrm>
            <a:off x="7594600" y="3921621"/>
            <a:ext cx="389813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1A2B"/>
                </a:solidFill>
                <a:latin typeface="IBM Plex Sans" pitchFamily="34" charset="0"/>
                <a:ea typeface="IBM Plex Sans" pitchFamily="34" charset="-122"/>
                <a:cs typeface="IBM Plex Sans" pitchFamily="34" charset="-120"/>
              </a:rPr>
              <a:t>Suspicious link.</a:t>
            </a:r>
            <a:r>
              <a:rPr lang="en-US" sz="1400" dirty="0">
                <a:solidFill>
                  <a:srgbClr val="101A2B"/>
                </a:solidFill>
                <a:latin typeface="IBM Plex Sans" pitchFamily="34" charset="0"/>
                <a:ea typeface="IBM Plex Sans" pitchFamily="34" charset="-122"/>
                <a:cs typeface="IBM Plex Sans" pitchFamily="34" charset="-120"/>
              </a:rPr>
              <a:t> It does not lead to the real bank site.</a:t>
            </a:r>
            <a:endParaRPr lang="en-US" sz="1400" dirty="0"/>
          </a:p>
        </p:txBody>
      </p:sp>
      <p:sp>
        <p:nvSpPr>
          <p:cNvPr id="27" name="Text 2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Phishing Awareness Training</a:t>
            </a:r>
            <a:endParaRPr lang="en-US" sz="1200" dirty="0"/>
          </a:p>
        </p:txBody>
      </p:sp>
      <p:sp>
        <p:nvSpPr>
          <p:cNvPr id="28" name="Text 2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9"/>
                </a:solidFill>
                <a:latin typeface="IBM Plex Sans" pitchFamily="34" charset="0"/>
                <a:ea typeface="IBM Plex Sans" pitchFamily="34" charset="-122"/>
                <a:cs typeface="IBM Plex Sans" pitchFamily="34" charset="-120"/>
              </a:rPr>
              <a:t>RECOGNIZING PHISHING EMAILS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1A2B"/>
                </a:solidFill>
                <a:latin typeface="Rubik" pitchFamily="34" charset="0"/>
                <a:ea typeface="Rubik" pitchFamily="34" charset="-122"/>
                <a:cs typeface="Rubik" pitchFamily="34" charset="-120"/>
              </a:rPr>
              <a:t>Six red flags to check</a:t>
            </a:r>
            <a:endParaRPr lang="en-US" sz="3200" dirty="0"/>
          </a:p>
        </p:txBody>
      </p:sp>
      <p:sp>
        <p:nvSpPr>
          <p:cNvPr id="4" name="Shape 2"/>
          <p:cNvSpPr/>
          <p:nvPr/>
        </p:nvSpPr>
        <p:spPr>
          <a:xfrm>
            <a:off x="815975" y="1877616"/>
            <a:ext cx="5200650" cy="1118840"/>
          </a:xfrm>
          <a:prstGeom prst="roundRect">
            <a:avLst>
              <a:gd name="adj" fmla="val 8797"/>
            </a:avLst>
          </a:prstGeom>
          <a:solidFill>
            <a:srgbClr val="FFFFFF"/>
          </a:solidFill>
          <a:ln w="6350">
            <a:solidFill>
              <a:srgbClr val="DDE1DA"/>
            </a:solidFill>
            <a:prstDash val="solid"/>
          </a:ln>
        </p:spPr>
      </p:sp>
      <p:pic>
        <p:nvPicPr>
          <p:cNvPr id="5" name="Image 0" descr="Search">    </p:cNvPr>
          <p:cNvPicPr>
            <a:picLocks noChangeAspect="1"/>
          </p:cNvPicPr>
          <p:nvPr/>
        </p:nvPicPr>
        <p:blipFill>
          <a:blip r:embed="rId1"/>
          <a:srcRect l="0" r="0" t="0" b="0"/>
          <a:stretch/>
        </p:blipFill>
        <p:spPr>
          <a:xfrm>
            <a:off x="1022350" y="2058591"/>
            <a:ext cx="355600" cy="355600"/>
          </a:xfrm>
          <a:prstGeom prst="rect">
            <a:avLst/>
          </a:prstGeom>
        </p:spPr>
      </p:pic>
      <p:sp>
        <p:nvSpPr>
          <p:cNvPr id="6" name="Text 3"/>
          <p:cNvSpPr/>
          <p:nvPr/>
        </p:nvSpPr>
        <p:spPr>
          <a:xfrm>
            <a:off x="1555750" y="2058591"/>
            <a:ext cx="43821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Sender mismatch</a:t>
            </a:r>
            <a:endParaRPr lang="en-US" sz="1600" dirty="0"/>
          </a:p>
        </p:txBody>
      </p:sp>
      <p:sp>
        <p:nvSpPr>
          <p:cNvPr id="7" name="Text 4"/>
          <p:cNvSpPr/>
          <p:nvPr/>
        </p:nvSpPr>
        <p:spPr>
          <a:xfrm>
            <a:off x="1555750" y="2353221"/>
            <a:ext cx="43821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The display name looks right, but the address behind it is slightly off</a:t>
            </a:r>
            <a:endParaRPr lang="en-US" sz="1300" dirty="0"/>
          </a:p>
        </p:txBody>
      </p:sp>
      <p:sp>
        <p:nvSpPr>
          <p:cNvPr id="8" name="Shape 5"/>
          <p:cNvSpPr/>
          <p:nvPr/>
        </p:nvSpPr>
        <p:spPr>
          <a:xfrm>
            <a:off x="6175375" y="1877616"/>
            <a:ext cx="5200650" cy="1118840"/>
          </a:xfrm>
          <a:prstGeom prst="roundRect">
            <a:avLst>
              <a:gd name="adj" fmla="val 8797"/>
            </a:avLst>
          </a:prstGeom>
          <a:solidFill>
            <a:srgbClr val="FFFFFF"/>
          </a:solidFill>
          <a:ln w="6350">
            <a:solidFill>
              <a:srgbClr val="DDE1DA"/>
            </a:solidFill>
            <a:prstDash val="solid"/>
          </a:ln>
        </p:spPr>
      </p:sp>
      <p:pic>
        <p:nvPicPr>
          <p:cNvPr id="9" name="Image 1" descr="Clock">    </p:cNvPr>
          <p:cNvPicPr>
            <a:picLocks noChangeAspect="1"/>
          </p:cNvPicPr>
          <p:nvPr/>
        </p:nvPicPr>
        <p:blipFill>
          <a:blip r:embed="rId2"/>
          <a:srcRect l="0" r="0" t="0" b="0"/>
          <a:stretch/>
        </p:blipFill>
        <p:spPr>
          <a:xfrm>
            <a:off x="6381750" y="2058591"/>
            <a:ext cx="355600" cy="355600"/>
          </a:xfrm>
          <a:prstGeom prst="rect">
            <a:avLst/>
          </a:prstGeom>
        </p:spPr>
      </p:pic>
      <p:sp>
        <p:nvSpPr>
          <p:cNvPr id="10" name="Text 6"/>
          <p:cNvSpPr/>
          <p:nvPr/>
        </p:nvSpPr>
        <p:spPr>
          <a:xfrm>
            <a:off x="6915150" y="2058591"/>
            <a:ext cx="43821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Urgency or threats</a:t>
            </a:r>
            <a:endParaRPr lang="en-US" sz="1600" dirty="0"/>
          </a:p>
        </p:txBody>
      </p:sp>
      <p:sp>
        <p:nvSpPr>
          <p:cNvPr id="11" name="Text 7"/>
          <p:cNvSpPr/>
          <p:nvPr/>
        </p:nvSpPr>
        <p:spPr>
          <a:xfrm>
            <a:off x="6915150" y="2353221"/>
            <a:ext cx="44577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“Act now”, “final warning”, “your account will be closed”</a:t>
            </a:r>
            <a:endParaRPr lang="en-US" sz="1300" dirty="0"/>
          </a:p>
        </p:txBody>
      </p:sp>
      <p:sp>
        <p:nvSpPr>
          <p:cNvPr id="12" name="Shape 8"/>
          <p:cNvSpPr/>
          <p:nvPr/>
        </p:nvSpPr>
        <p:spPr>
          <a:xfrm>
            <a:off x="815975" y="3155206"/>
            <a:ext cx="5200650" cy="887710"/>
          </a:xfrm>
          <a:prstGeom prst="roundRect">
            <a:avLst>
              <a:gd name="adj" fmla="val 11088"/>
            </a:avLst>
          </a:prstGeom>
          <a:solidFill>
            <a:srgbClr val="FFFFFF"/>
          </a:solidFill>
          <a:ln w="6350">
            <a:solidFill>
              <a:srgbClr val="DDE1DA"/>
            </a:solidFill>
            <a:prstDash val="solid"/>
          </a:ln>
        </p:spPr>
      </p:sp>
      <p:pic>
        <p:nvPicPr>
          <p:cNvPr id="13" name="Image 2" descr="Book">    </p:cNvPr>
          <p:cNvPicPr>
            <a:picLocks noChangeAspect="1"/>
          </p:cNvPicPr>
          <p:nvPr/>
        </p:nvPicPr>
        <p:blipFill>
          <a:blip r:embed="rId3"/>
          <a:srcRect l="0" r="0" t="0" b="0"/>
          <a:stretch/>
        </p:blipFill>
        <p:spPr>
          <a:xfrm>
            <a:off x="1022350" y="3336181"/>
            <a:ext cx="355600" cy="355600"/>
          </a:xfrm>
          <a:prstGeom prst="rect">
            <a:avLst/>
          </a:prstGeom>
        </p:spPr>
      </p:pic>
      <p:sp>
        <p:nvSpPr>
          <p:cNvPr id="14" name="Text 9"/>
          <p:cNvSpPr/>
          <p:nvPr/>
        </p:nvSpPr>
        <p:spPr>
          <a:xfrm>
            <a:off x="1555750" y="3336181"/>
            <a:ext cx="43821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Unexpected attachments</a:t>
            </a:r>
            <a:endParaRPr lang="en-US" sz="1600" dirty="0"/>
          </a:p>
        </p:txBody>
      </p:sp>
      <p:sp>
        <p:nvSpPr>
          <p:cNvPr id="15" name="Text 10"/>
          <p:cNvSpPr/>
          <p:nvPr/>
        </p:nvSpPr>
        <p:spPr>
          <a:xfrm>
            <a:off x="1555750" y="3630811"/>
            <a:ext cx="4382135"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Invoices, scans or ZIP files that you never asked for</a:t>
            </a:r>
            <a:endParaRPr lang="en-US" sz="1300" dirty="0"/>
          </a:p>
        </p:txBody>
      </p:sp>
      <p:sp>
        <p:nvSpPr>
          <p:cNvPr id="16" name="Shape 11"/>
          <p:cNvSpPr/>
          <p:nvPr/>
        </p:nvSpPr>
        <p:spPr>
          <a:xfrm>
            <a:off x="6175375" y="3155206"/>
            <a:ext cx="5200650" cy="887710"/>
          </a:xfrm>
          <a:prstGeom prst="roundRect">
            <a:avLst>
              <a:gd name="adj" fmla="val 11088"/>
            </a:avLst>
          </a:prstGeom>
          <a:solidFill>
            <a:srgbClr val="FFFFFF"/>
          </a:solidFill>
          <a:ln w="6350">
            <a:solidFill>
              <a:srgbClr val="DDE1DA"/>
            </a:solidFill>
            <a:prstDash val="solid"/>
          </a:ln>
        </p:spPr>
      </p:sp>
      <p:pic>
        <p:nvPicPr>
          <p:cNvPr id="17" name="Image 3" descr="Users">    </p:cNvPr>
          <p:cNvPicPr>
            <a:picLocks noChangeAspect="1"/>
          </p:cNvPicPr>
          <p:nvPr/>
        </p:nvPicPr>
        <p:blipFill>
          <a:blip r:embed="rId4"/>
          <a:srcRect l="0" r="0" t="0" b="0"/>
          <a:stretch/>
        </p:blipFill>
        <p:spPr>
          <a:xfrm>
            <a:off x="6381750" y="3336181"/>
            <a:ext cx="355600" cy="355600"/>
          </a:xfrm>
          <a:prstGeom prst="rect">
            <a:avLst/>
          </a:prstGeom>
        </p:spPr>
      </p:pic>
      <p:sp>
        <p:nvSpPr>
          <p:cNvPr id="18" name="Text 12"/>
          <p:cNvSpPr/>
          <p:nvPr/>
        </p:nvSpPr>
        <p:spPr>
          <a:xfrm>
            <a:off x="6915150" y="3336181"/>
            <a:ext cx="43821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Generic greeting</a:t>
            </a:r>
            <a:endParaRPr lang="en-US" sz="1600" dirty="0"/>
          </a:p>
        </p:txBody>
      </p:sp>
      <p:sp>
        <p:nvSpPr>
          <p:cNvPr id="19" name="Text 13"/>
          <p:cNvSpPr/>
          <p:nvPr/>
        </p:nvSpPr>
        <p:spPr>
          <a:xfrm>
            <a:off x="6915150" y="3630811"/>
            <a:ext cx="4382135"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“Dear user” or “Dear customer” instead of your name</a:t>
            </a:r>
            <a:endParaRPr lang="en-US" sz="1300" dirty="0"/>
          </a:p>
        </p:txBody>
      </p:sp>
      <p:sp>
        <p:nvSpPr>
          <p:cNvPr id="20" name="Shape 14"/>
          <p:cNvSpPr/>
          <p:nvPr/>
        </p:nvSpPr>
        <p:spPr>
          <a:xfrm>
            <a:off x="815975" y="4201666"/>
            <a:ext cx="5200650" cy="1118840"/>
          </a:xfrm>
          <a:prstGeom prst="roundRect">
            <a:avLst>
              <a:gd name="adj" fmla="val 8797"/>
            </a:avLst>
          </a:prstGeom>
          <a:solidFill>
            <a:srgbClr val="FFFFFF"/>
          </a:solidFill>
          <a:ln w="6350">
            <a:solidFill>
              <a:srgbClr val="DDE1DA"/>
            </a:solidFill>
            <a:prstDash val="solid"/>
          </a:ln>
        </p:spPr>
      </p:sp>
      <p:pic>
        <p:nvPicPr>
          <p:cNvPr id="21" name="Image 4" descr="Link">    </p:cNvPr>
          <p:cNvPicPr>
            <a:picLocks noChangeAspect="1"/>
          </p:cNvPicPr>
          <p:nvPr/>
        </p:nvPicPr>
        <p:blipFill>
          <a:blip r:embed="rId5"/>
          <a:srcRect l="0" r="0" t="0" b="0"/>
          <a:stretch/>
        </p:blipFill>
        <p:spPr>
          <a:xfrm>
            <a:off x="1022350" y="4382641"/>
            <a:ext cx="355600" cy="355600"/>
          </a:xfrm>
          <a:prstGeom prst="rect">
            <a:avLst/>
          </a:prstGeom>
        </p:spPr>
      </p:pic>
      <p:sp>
        <p:nvSpPr>
          <p:cNvPr id="22" name="Text 15"/>
          <p:cNvSpPr/>
          <p:nvPr/>
        </p:nvSpPr>
        <p:spPr>
          <a:xfrm>
            <a:off x="1555750" y="4382641"/>
            <a:ext cx="43821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Suspicious links</a:t>
            </a:r>
            <a:endParaRPr lang="en-US" sz="1600" dirty="0"/>
          </a:p>
        </p:txBody>
      </p:sp>
      <p:sp>
        <p:nvSpPr>
          <p:cNvPr id="23" name="Text 16"/>
          <p:cNvSpPr/>
          <p:nvPr/>
        </p:nvSpPr>
        <p:spPr>
          <a:xfrm>
            <a:off x="1555750" y="4677271"/>
            <a:ext cx="43821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Hover over a link to preview the real address before you click</a:t>
            </a:r>
            <a:endParaRPr lang="en-US" sz="1300" dirty="0"/>
          </a:p>
        </p:txBody>
      </p:sp>
      <p:sp>
        <p:nvSpPr>
          <p:cNvPr id="24" name="Shape 17"/>
          <p:cNvSpPr/>
          <p:nvPr/>
        </p:nvSpPr>
        <p:spPr>
          <a:xfrm>
            <a:off x="6175375" y="4201666"/>
            <a:ext cx="5200650" cy="1118840"/>
          </a:xfrm>
          <a:prstGeom prst="roundRect">
            <a:avLst>
              <a:gd name="adj" fmla="val 8797"/>
            </a:avLst>
          </a:prstGeom>
          <a:solidFill>
            <a:srgbClr val="FFFFFF"/>
          </a:solidFill>
          <a:ln w="6350">
            <a:solidFill>
              <a:srgbClr val="DDE1DA"/>
            </a:solidFill>
            <a:prstDash val="solid"/>
          </a:ln>
        </p:spPr>
      </p:sp>
      <p:pic>
        <p:nvPicPr>
          <p:cNvPr id="25" name="Image 5" descr="Key">    </p:cNvPr>
          <p:cNvPicPr>
            <a:picLocks noChangeAspect="1"/>
          </p:cNvPicPr>
          <p:nvPr/>
        </p:nvPicPr>
        <p:blipFill>
          <a:blip r:embed="rId6"/>
          <a:srcRect l="0" r="0" t="0" b="0"/>
          <a:stretch/>
        </p:blipFill>
        <p:spPr>
          <a:xfrm>
            <a:off x="6381750" y="4382641"/>
            <a:ext cx="355600" cy="355600"/>
          </a:xfrm>
          <a:prstGeom prst="rect">
            <a:avLst/>
          </a:prstGeom>
        </p:spPr>
      </p:pic>
      <p:sp>
        <p:nvSpPr>
          <p:cNvPr id="26" name="Text 18"/>
          <p:cNvSpPr/>
          <p:nvPr/>
        </p:nvSpPr>
        <p:spPr>
          <a:xfrm>
            <a:off x="6915150" y="4382641"/>
            <a:ext cx="43821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Requests for secrets</a:t>
            </a:r>
            <a:endParaRPr lang="en-US" sz="1600" dirty="0"/>
          </a:p>
        </p:txBody>
      </p:sp>
      <p:sp>
        <p:nvSpPr>
          <p:cNvPr id="27" name="Text 19"/>
          <p:cNvSpPr/>
          <p:nvPr/>
        </p:nvSpPr>
        <p:spPr>
          <a:xfrm>
            <a:off x="6915150" y="4677271"/>
            <a:ext cx="43821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Real companies never ask for passwords, PINs or OTPs by email</a:t>
            </a:r>
            <a:endParaRPr lang="en-US" sz="1300" dirty="0"/>
          </a:p>
        </p:txBody>
      </p:sp>
      <p:sp>
        <p:nvSpPr>
          <p:cNvPr id="28" name="Text 2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Phishing Awareness Training</a:t>
            </a:r>
            <a:endParaRPr lang="en-US" sz="1200" dirty="0"/>
          </a:p>
        </p:txBody>
      </p:sp>
      <p:sp>
        <p:nvSpPr>
          <p:cNvPr id="29"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9"/>
                </a:solidFill>
                <a:latin typeface="IBM Plex Sans" pitchFamily="34" charset="0"/>
                <a:ea typeface="IBM Plex Sans" pitchFamily="34" charset="-122"/>
                <a:cs typeface="IBM Plex Sans" pitchFamily="34" charset="-120"/>
              </a:rPr>
              <a:t>RECOGNIZING FAKE WEBSITES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1A2B"/>
                </a:solidFill>
                <a:latin typeface="Rubik" pitchFamily="34" charset="0"/>
                <a:ea typeface="Rubik" pitchFamily="34" charset="-122"/>
                <a:cs typeface="Rubik" pitchFamily="34" charset="-120"/>
              </a:rPr>
              <a:t>Spotting fake websites</a:t>
            </a:r>
            <a:endParaRPr lang="en-US" sz="3200" dirty="0"/>
          </a:p>
        </p:txBody>
      </p:sp>
      <p:sp>
        <p:nvSpPr>
          <p:cNvPr id="4" name="Shape 2"/>
          <p:cNvSpPr/>
          <p:nvPr/>
        </p:nvSpPr>
        <p:spPr>
          <a:xfrm>
            <a:off x="812800" y="2438946"/>
            <a:ext cx="10566400" cy="0"/>
          </a:xfrm>
          <a:prstGeom prst="line">
            <a:avLst/>
          </a:prstGeom>
          <a:noFill/>
          <a:ln w="6350">
            <a:solidFill>
              <a:srgbClr val="DDE1DA"/>
            </a:solidFill>
            <a:prstDash val="solid"/>
          </a:ln>
        </p:spPr>
      </p:sp>
      <p:sp>
        <p:nvSpPr>
          <p:cNvPr id="5" name="Text 3"/>
          <p:cNvSpPr/>
          <p:nvPr/>
        </p:nvSpPr>
        <p:spPr>
          <a:xfrm>
            <a:off x="812800" y="2001441"/>
            <a:ext cx="406400"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7766F"/>
                </a:solidFill>
                <a:latin typeface="Rubik" pitchFamily="34" charset="0"/>
                <a:ea typeface="Rubik" pitchFamily="34" charset="-122"/>
                <a:cs typeface="Rubik" pitchFamily="34" charset="-120"/>
              </a:rPr>
              <a:t>1</a:t>
            </a:r>
            <a:endParaRPr lang="en-US" sz="2200" dirty="0"/>
          </a:p>
        </p:txBody>
      </p:sp>
      <p:sp>
        <p:nvSpPr>
          <p:cNvPr id="6" name="Text 4"/>
          <p:cNvSpPr/>
          <p:nvPr/>
        </p:nvSpPr>
        <p:spPr>
          <a:xfrm>
            <a:off x="1371600" y="2033191"/>
            <a:ext cx="31394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Read the domain</a:t>
            </a:r>
            <a:endParaRPr lang="en-US" sz="1600" dirty="0"/>
          </a:p>
        </p:txBody>
      </p:sp>
      <p:sp>
        <p:nvSpPr>
          <p:cNvPr id="7" name="Text 5"/>
          <p:cNvSpPr/>
          <p:nvPr/>
        </p:nvSpPr>
        <p:spPr>
          <a:xfrm>
            <a:off x="4622800" y="2030661"/>
            <a:ext cx="69590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real owner is the name just before .com or .pk, read from the right.</a:t>
            </a:r>
            <a:endParaRPr lang="en-US" sz="1400" dirty="0"/>
          </a:p>
        </p:txBody>
      </p:sp>
      <p:sp>
        <p:nvSpPr>
          <p:cNvPr id="8" name="Shape 6"/>
          <p:cNvSpPr/>
          <p:nvPr/>
        </p:nvSpPr>
        <p:spPr>
          <a:xfrm>
            <a:off x="812800" y="3006626"/>
            <a:ext cx="10566400" cy="0"/>
          </a:xfrm>
          <a:prstGeom prst="line">
            <a:avLst/>
          </a:prstGeom>
          <a:noFill/>
          <a:ln w="6350">
            <a:solidFill>
              <a:srgbClr val="DDE1DA"/>
            </a:solidFill>
            <a:prstDash val="solid"/>
          </a:ln>
        </p:spPr>
      </p:sp>
      <p:sp>
        <p:nvSpPr>
          <p:cNvPr id="9" name="Text 7"/>
          <p:cNvSpPr/>
          <p:nvPr/>
        </p:nvSpPr>
        <p:spPr>
          <a:xfrm>
            <a:off x="812800" y="2569121"/>
            <a:ext cx="406400"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7766F"/>
                </a:solidFill>
                <a:latin typeface="Rubik" pitchFamily="34" charset="0"/>
                <a:ea typeface="Rubik" pitchFamily="34" charset="-122"/>
                <a:cs typeface="Rubik" pitchFamily="34" charset="-120"/>
              </a:rPr>
              <a:t>2</a:t>
            </a:r>
            <a:endParaRPr lang="en-US" sz="2200" dirty="0"/>
          </a:p>
        </p:txBody>
      </p:sp>
      <p:sp>
        <p:nvSpPr>
          <p:cNvPr id="10" name="Text 8"/>
          <p:cNvSpPr/>
          <p:nvPr/>
        </p:nvSpPr>
        <p:spPr>
          <a:xfrm>
            <a:off x="1371600" y="2600871"/>
            <a:ext cx="31394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Spot the lookalikes</a:t>
            </a:r>
            <a:endParaRPr lang="en-US" sz="1600" dirty="0"/>
          </a:p>
        </p:txBody>
      </p:sp>
      <p:sp>
        <p:nvSpPr>
          <p:cNvPr id="11" name="Text 9"/>
          <p:cNvSpPr/>
          <p:nvPr/>
        </p:nvSpPr>
        <p:spPr>
          <a:xfrm>
            <a:off x="4622800" y="2598341"/>
            <a:ext cx="69590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Watch for 1 instead of l, rn instead of m, 0 instead of o, or extra hyphens.</a:t>
            </a:r>
            <a:endParaRPr lang="en-US" sz="1400" dirty="0"/>
          </a:p>
        </p:txBody>
      </p:sp>
      <p:sp>
        <p:nvSpPr>
          <p:cNvPr id="12" name="Shape 10"/>
          <p:cNvSpPr/>
          <p:nvPr/>
        </p:nvSpPr>
        <p:spPr>
          <a:xfrm>
            <a:off x="812800" y="3574306"/>
            <a:ext cx="10566400" cy="0"/>
          </a:xfrm>
          <a:prstGeom prst="line">
            <a:avLst/>
          </a:prstGeom>
          <a:noFill/>
          <a:ln w="6350">
            <a:solidFill>
              <a:srgbClr val="DDE1DA"/>
            </a:solidFill>
            <a:prstDash val="solid"/>
          </a:ln>
        </p:spPr>
      </p:sp>
      <p:sp>
        <p:nvSpPr>
          <p:cNvPr id="13" name="Text 11"/>
          <p:cNvSpPr/>
          <p:nvPr/>
        </p:nvSpPr>
        <p:spPr>
          <a:xfrm>
            <a:off x="812800" y="3136801"/>
            <a:ext cx="406400"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7766F"/>
                </a:solidFill>
                <a:latin typeface="Rubik" pitchFamily="34" charset="0"/>
                <a:ea typeface="Rubik" pitchFamily="34" charset="-122"/>
                <a:cs typeface="Rubik" pitchFamily="34" charset="-120"/>
              </a:rPr>
              <a:t>3</a:t>
            </a:r>
            <a:endParaRPr lang="en-US" sz="2200" dirty="0"/>
          </a:p>
        </p:txBody>
      </p:sp>
      <p:sp>
        <p:nvSpPr>
          <p:cNvPr id="14" name="Text 12"/>
          <p:cNvSpPr/>
          <p:nvPr/>
        </p:nvSpPr>
        <p:spPr>
          <a:xfrm>
            <a:off x="1371600" y="3168551"/>
            <a:ext cx="31394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A padlock proves little</a:t>
            </a:r>
            <a:endParaRPr lang="en-US" sz="1600" dirty="0"/>
          </a:p>
        </p:txBody>
      </p:sp>
      <p:sp>
        <p:nvSpPr>
          <p:cNvPr id="15" name="Text 13"/>
          <p:cNvSpPr/>
          <p:nvPr/>
        </p:nvSpPr>
        <p:spPr>
          <a:xfrm>
            <a:off x="4622800" y="3166021"/>
            <a:ext cx="69590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HTTPS only means the connection is encrypted. Fake sites can have it too.</a:t>
            </a:r>
            <a:endParaRPr lang="en-US" sz="1400" dirty="0"/>
          </a:p>
        </p:txBody>
      </p:sp>
      <p:sp>
        <p:nvSpPr>
          <p:cNvPr id="16" name="Shape 14"/>
          <p:cNvSpPr/>
          <p:nvPr/>
        </p:nvSpPr>
        <p:spPr>
          <a:xfrm>
            <a:off x="812800" y="4141986"/>
            <a:ext cx="10566400" cy="0"/>
          </a:xfrm>
          <a:prstGeom prst="line">
            <a:avLst/>
          </a:prstGeom>
          <a:noFill/>
          <a:ln w="6350">
            <a:solidFill>
              <a:srgbClr val="DDE1DA"/>
            </a:solidFill>
            <a:prstDash val="solid"/>
          </a:ln>
        </p:spPr>
      </p:sp>
      <p:sp>
        <p:nvSpPr>
          <p:cNvPr id="17" name="Text 15"/>
          <p:cNvSpPr/>
          <p:nvPr/>
        </p:nvSpPr>
        <p:spPr>
          <a:xfrm>
            <a:off x="812800" y="3704481"/>
            <a:ext cx="406400"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7766F"/>
                </a:solidFill>
                <a:latin typeface="Rubik" pitchFamily="34" charset="0"/>
                <a:ea typeface="Rubik" pitchFamily="34" charset="-122"/>
                <a:cs typeface="Rubik" pitchFamily="34" charset="-120"/>
              </a:rPr>
              <a:t>4</a:t>
            </a:r>
            <a:endParaRPr lang="en-US" sz="2200" dirty="0"/>
          </a:p>
        </p:txBody>
      </p:sp>
      <p:sp>
        <p:nvSpPr>
          <p:cNvPr id="18" name="Text 16"/>
          <p:cNvSpPr/>
          <p:nvPr/>
        </p:nvSpPr>
        <p:spPr>
          <a:xfrm>
            <a:off x="1371600" y="3736231"/>
            <a:ext cx="31394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Go there yourself</a:t>
            </a:r>
            <a:endParaRPr lang="en-US" sz="1600" dirty="0"/>
          </a:p>
        </p:txBody>
      </p:sp>
      <p:sp>
        <p:nvSpPr>
          <p:cNvPr id="19" name="Text 17"/>
          <p:cNvSpPr/>
          <p:nvPr/>
        </p:nvSpPr>
        <p:spPr>
          <a:xfrm>
            <a:off x="4622800" y="3733701"/>
            <a:ext cx="69590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Type the address, use a bookmark or the official app instead of a message link.</a:t>
            </a:r>
            <a:endParaRPr lang="en-US" sz="1400" dirty="0"/>
          </a:p>
        </p:txBody>
      </p:sp>
      <p:sp>
        <p:nvSpPr>
          <p:cNvPr id="20" name="Text 18"/>
          <p:cNvSpPr/>
          <p:nvPr/>
        </p:nvSpPr>
        <p:spPr>
          <a:xfrm>
            <a:off x="812800" y="4272161"/>
            <a:ext cx="406400"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7766F"/>
                </a:solidFill>
                <a:latin typeface="Rubik" pitchFamily="34" charset="0"/>
                <a:ea typeface="Rubik" pitchFamily="34" charset="-122"/>
                <a:cs typeface="Rubik" pitchFamily="34" charset="-120"/>
              </a:rPr>
              <a:t>5</a:t>
            </a:r>
            <a:endParaRPr lang="en-US" sz="2200" dirty="0"/>
          </a:p>
        </p:txBody>
      </p:sp>
      <p:sp>
        <p:nvSpPr>
          <p:cNvPr id="21" name="Text 19"/>
          <p:cNvSpPr/>
          <p:nvPr/>
        </p:nvSpPr>
        <p:spPr>
          <a:xfrm>
            <a:off x="1371600" y="4303911"/>
            <a:ext cx="31394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Check the details</a:t>
            </a:r>
            <a:endParaRPr lang="en-US" sz="1600" dirty="0"/>
          </a:p>
        </p:txBody>
      </p:sp>
      <p:sp>
        <p:nvSpPr>
          <p:cNvPr id="22" name="Text 20"/>
          <p:cNvSpPr/>
          <p:nvPr/>
        </p:nvSpPr>
        <p:spPr>
          <a:xfrm>
            <a:off x="4622800" y="4301381"/>
            <a:ext cx="69590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Poor spelling, an odd login page, or pop-ups asking for card details or an OTP.</a:t>
            </a:r>
            <a:endParaRPr lang="en-US" sz="1400" dirty="0"/>
          </a:p>
        </p:txBody>
      </p:sp>
      <p:sp>
        <p:nvSpPr>
          <p:cNvPr id="23" name="Text 2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Phishing Awareness Training</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9"/>
                </a:solidFill>
                <a:latin typeface="IBM Plex Sans" pitchFamily="34" charset="0"/>
                <a:ea typeface="IBM Plex Sans" pitchFamily="34" charset="-122"/>
                <a:cs typeface="IBM Plex Sans" pitchFamily="34" charset="-120"/>
              </a:rPr>
              <a:t>RECOGNIZING FAKE WEBSITES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1A2B"/>
                </a:solidFill>
                <a:latin typeface="Rubik" pitchFamily="34" charset="0"/>
                <a:ea typeface="Rubik" pitchFamily="34" charset="-122"/>
                <a:cs typeface="Rubik" pitchFamily="34" charset="-120"/>
              </a:rPr>
              <a:t>Real vs fake web addresses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36341"/>
          <a:ext cx="10553700" cy="2316063"/>
        </p:xfrm>
        <a:graphic>
          <a:graphicData uri="http://schemas.openxmlformats.org/drawingml/2006/table">
            <a:tbl>
              <a:tblPr/>
              <a:tblGrid>
                <a:gridCol w="4432554"/>
                <a:gridCol w="1477518"/>
                <a:gridCol w="4643628"/>
              </a:tblGrid>
              <a:tr h="386011">
                <a:tc>
                  <a:txBody>
                    <a:bodyPr/>
                    <a:lstStyle/>
                    <a:p>
                      <a:pPr indent="0" marL="0">
                        <a:lnSpc>
                          <a:spcPts val="1960"/>
                        </a:lnSpc>
                        <a:buNone/>
                      </a:pPr>
                      <a:r>
                        <a:rPr lang="en-US" sz="1400" b="1" dirty="0">
                          <a:solidFill>
                            <a:srgbClr val="F5F6F2"/>
                          </a:solidFill>
                          <a:latin typeface="IBM Plex Sans" pitchFamily="34" charset="0"/>
                          <a:ea typeface="IBM Plex Sans" pitchFamily="34" charset="-122"/>
                          <a:cs typeface="IBM Plex Sans" pitchFamily="34" charset="-120"/>
                        </a:rPr>
                        <a:t>Web address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111926"/>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111926"/>
                      </a:solidFill>
                      <a:prstDash val="solid"/>
                      <a:round/>
                      <a:headEnd type="none" w="med" len="med"/>
                      <a:tailEnd type="none" w="med" len="med"/>
                    </a:lnB>
                    <a:solidFill>
                      <a:srgbClr val="101A2B"/>
                    </a:solidFill>
                  </a:tcPr>
                </a:tc>
                <a:tc>
                  <a:txBody>
                    <a:bodyPr/>
                    <a:lstStyle/>
                    <a:p>
                      <a:pPr indent="0" marL="0">
                        <a:lnSpc>
                          <a:spcPts val="1960"/>
                        </a:lnSpc>
                        <a:buNone/>
                      </a:pPr>
                      <a:r>
                        <a:rPr lang="en-US" sz="1400" b="1" dirty="0">
                          <a:solidFill>
                            <a:srgbClr val="F5F6F2"/>
                          </a:solidFill>
                          <a:latin typeface="IBM Plex Sans" pitchFamily="34" charset="0"/>
                          <a:ea typeface="IBM Plex Sans" pitchFamily="34" charset="-122"/>
                          <a:cs typeface="IBM Plex Sans" pitchFamily="34" charset="-120"/>
                        </a:rPr>
                        <a:t>Verdict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11926"/>
                      </a:solidFill>
                      <a:prstDash val="solid"/>
                      <a:round/>
                      <a:headEnd type="none" w="med" len="med"/>
                      <a:tailEnd type="none" w="med" len="med"/>
                    </a:lnL>
                    <a:lnR w="12700" cap="flat" cmpd="sng" algn="ctr">
                      <a:solidFill>
                        <a:srgbClr val="111926"/>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111926"/>
                      </a:solidFill>
                      <a:prstDash val="solid"/>
                      <a:round/>
                      <a:headEnd type="none" w="med" len="med"/>
                      <a:tailEnd type="none" w="med" len="med"/>
                    </a:lnB>
                    <a:solidFill>
                      <a:srgbClr val="101A2B"/>
                    </a:solidFill>
                  </a:tcPr>
                </a:tc>
                <a:tc>
                  <a:txBody>
                    <a:bodyPr/>
                    <a:lstStyle/>
                    <a:p>
                      <a:pPr indent="0" marL="0">
                        <a:lnSpc>
                          <a:spcPts val="1960"/>
                        </a:lnSpc>
                        <a:buNone/>
                      </a:pPr>
                      <a:r>
                        <a:rPr lang="en-US" sz="1400" b="1" dirty="0">
                          <a:solidFill>
                            <a:srgbClr val="F5F6F2"/>
                          </a:solidFill>
                          <a:latin typeface="IBM Plex Sans" pitchFamily="34" charset="0"/>
                          <a:ea typeface="IBM Plex Sans" pitchFamily="34" charset="-122"/>
                          <a:cs typeface="IBM Plex Sans" pitchFamily="34" charset="-120"/>
                        </a:rPr>
                        <a:t>Why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11926"/>
                      </a:solidFill>
                      <a:prstDash val="solid"/>
                      <a:round/>
                      <a:headEnd type="none" w="med" len="med"/>
                      <a:tailEnd type="none" w="med" len="med"/>
                    </a:lnL>
                    <a:lnR w="12700" cap="flat" cmpd="sng" algn="ctr">
                      <a:solidFill>
                        <a:srgbClr val="111926"/>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111926"/>
                      </a:solidFill>
                      <a:prstDash val="solid"/>
                      <a:round/>
                      <a:headEnd type="none" w="med" len="med"/>
                      <a:tailEnd type="none" w="med" len="med"/>
                    </a:lnB>
                    <a:solidFill>
                      <a:srgbClr val="101A2B"/>
                    </a:solidFill>
                  </a:tcPr>
                </a:tc>
              </a:tr>
              <a:tr h="386011">
                <a:tc>
                  <a:txBody>
                    <a:bodyPr/>
                    <a:lstStyle/>
                    <a:p>
                      <a:pPr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paypal.com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111926"/>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960"/>
                        </a:lnSpc>
                        <a:buNone/>
                      </a:pPr>
                      <a:r>
                        <a:rPr lang="en-US" sz="1400" dirty="0">
                          <a:solidFill>
                            <a:srgbClr val="17766F"/>
                          </a:solidFill>
                          <a:latin typeface="IBM Plex Sans" pitchFamily="34" charset="0"/>
                          <a:ea typeface="IBM Plex Sans" pitchFamily="34" charset="-122"/>
                          <a:cs typeface="IBM Plex Sans" pitchFamily="34" charset="-120"/>
                        </a:rPr>
                        <a:t>Real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111926"/>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Domain is paypal.com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111926"/>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r>
              <a:tr h="386011">
                <a:tc>
                  <a:txBody>
                    <a:bodyPr/>
                    <a:lstStyle/>
                    <a:p>
                      <a:pPr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accounts.paypal.com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tc>
                  <a:txBody>
                    <a:bodyPr/>
                    <a:lstStyle/>
                    <a:p>
                      <a:pPr indent="0" marL="0">
                        <a:lnSpc>
                          <a:spcPts val="1960"/>
                        </a:lnSpc>
                        <a:buNone/>
                      </a:pPr>
                      <a:r>
                        <a:rPr lang="en-US" sz="1400" dirty="0">
                          <a:solidFill>
                            <a:srgbClr val="17766F"/>
                          </a:solidFill>
                          <a:latin typeface="IBM Plex Sans" pitchFamily="34" charset="0"/>
                          <a:ea typeface="IBM Plex Sans" pitchFamily="34" charset="-122"/>
                          <a:cs typeface="IBM Plex Sans" pitchFamily="34" charset="-120"/>
                        </a:rPr>
                        <a:t>Real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EB9"/>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tc>
                  <a:txBody>
                    <a:bodyPr/>
                    <a:lstStyle/>
                    <a:p>
                      <a:pPr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Subdomain of paypal.com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EB9"/>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tr>
              <a:tr h="386011">
                <a:tc>
                  <a:txBody>
                    <a:bodyPr/>
                    <a:lstStyle/>
                    <a:p>
                      <a:pPr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paypa1.com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BCBEB9"/>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960"/>
                        </a:lnSpc>
                        <a:buNone/>
                      </a:pPr>
                      <a:r>
                        <a:rPr lang="en-US" sz="1400" dirty="0">
                          <a:solidFill>
                            <a:srgbClr val="B45309"/>
                          </a:solidFill>
                          <a:latin typeface="IBM Plex Sans" pitchFamily="34" charset="0"/>
                          <a:ea typeface="IBM Plex Sans" pitchFamily="34" charset="-122"/>
                          <a:cs typeface="IBM Plex Sans" pitchFamily="34" charset="-120"/>
                        </a:rPr>
                        <a:t>Fake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BCBEB9"/>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Digit 1 replaces the letter 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BCBEB9"/>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r>
              <a:tr h="386011">
                <a:tc>
                  <a:txBody>
                    <a:bodyPr/>
                    <a:lstStyle/>
                    <a:p>
                      <a:pPr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paypal.com.secure-login.net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tc>
                  <a:txBody>
                    <a:bodyPr/>
                    <a:lstStyle/>
                    <a:p>
                      <a:pPr indent="0" marL="0">
                        <a:lnSpc>
                          <a:spcPts val="1960"/>
                        </a:lnSpc>
                        <a:buNone/>
                      </a:pPr>
                      <a:r>
                        <a:rPr lang="en-US" sz="1400" dirty="0">
                          <a:solidFill>
                            <a:srgbClr val="B45309"/>
                          </a:solidFill>
                          <a:latin typeface="IBM Plex Sans" pitchFamily="34" charset="0"/>
                          <a:ea typeface="IBM Plex Sans" pitchFamily="34" charset="-122"/>
                          <a:cs typeface="IBM Plex Sans" pitchFamily="34" charset="-120"/>
                        </a:rPr>
                        <a:t>Fake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EB9"/>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tc>
                  <a:txBody>
                    <a:bodyPr/>
                    <a:lstStyle/>
                    <a:p>
                      <a:pPr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Real owner is secure-login.net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EB9"/>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tr>
              <a:tr h="386011">
                <a:tc>
                  <a:txBody>
                    <a:bodyPr/>
                    <a:lstStyle/>
                    <a:p>
                      <a:pPr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paypal-support-help.com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BCBEB9"/>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960"/>
                        </a:lnSpc>
                        <a:buNone/>
                      </a:pPr>
                      <a:r>
                        <a:rPr lang="en-US" sz="1400" dirty="0">
                          <a:solidFill>
                            <a:srgbClr val="B45309"/>
                          </a:solidFill>
                          <a:latin typeface="IBM Plex Sans" pitchFamily="34" charset="0"/>
                          <a:ea typeface="IBM Plex Sans" pitchFamily="34" charset="-122"/>
                          <a:cs typeface="IBM Plex Sans" pitchFamily="34" charset="-120"/>
                        </a:rPr>
                        <a:t>Fake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BCBEB9"/>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Extra words hide a different owner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BCBEB9"/>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r>
            </a:tbl>
          </a:graphicData>
        </a:graphic>
      </p:graphicFrame>
      <p:sp>
        <p:nvSpPr>
          <p:cNvPr id="5" name="Text 2"/>
          <p:cNvSpPr/>
          <p:nvPr/>
        </p:nvSpPr>
        <p:spPr>
          <a:xfrm>
            <a:off x="812800" y="4406404"/>
            <a:ext cx="10566400" cy="924520"/>
          </a:xfrm>
          <a:prstGeom prst="roundRect">
            <a:avLst>
              <a:gd name="adj" fmla="val 10989"/>
            </a:avLst>
          </a:prstGeom>
          <a:solidFill>
            <a:srgbClr val="101A2B"/>
          </a:solidFill>
          <a:ln/>
        </p:spPr>
        <p:txBody>
          <a:bodyPr wrap="square" lIns="198842" tIns="148042" rIns="0" bIns="122642" rtlCol="0" anchor="t">
            <a:normAutofit/>
          </a:bodyPr>
          <a:lstStyle/>
          <a:p>
            <a:pPr algn="l" indent="0" marL="0">
              <a:lnSpc>
                <a:spcPts val="2240"/>
              </a:lnSpc>
              <a:buNone/>
            </a:pPr>
            <a:r>
              <a:rPr lang="en-US" sz="1600" b="1" dirty="0">
                <a:solidFill>
                  <a:srgbClr val="F2A33A"/>
                </a:solidFill>
                <a:latin typeface="IBM Plex Sans" pitchFamily="34" charset="0"/>
                <a:ea typeface="IBM Plex Sans" pitchFamily="34" charset="-122"/>
                <a:cs typeface="IBM Plex Sans" pitchFamily="34" charset="-120"/>
              </a:rPr>
              <a:t>Rule of thumb:</a:t>
            </a:r>
            <a:r>
              <a:rPr lang="en-US" sz="1600" dirty="0">
                <a:solidFill>
                  <a:srgbClr val="F5F6F2"/>
                </a:solidFill>
                <a:latin typeface="IBM Plex Sans" pitchFamily="34" charset="0"/>
                <a:ea typeface="IBM Plex Sans" pitchFamily="34" charset="-122"/>
                <a:cs typeface="IBM Plex Sans" pitchFamily="34" charset="-120"/>
              </a:rPr>
              <a:t> read the address up to the first “/” from right to left. The name before .com or .pk shows who really owns the site.</a:t>
            </a:r>
            <a:endParaRPr lang="en-US" sz="16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Phishing Awareness Training</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1A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3A"/>
                </a:solidFill>
                <a:latin typeface="IBM Plex Sans" pitchFamily="34" charset="0"/>
                <a:ea typeface="IBM Plex Sans" pitchFamily="34" charset="-122"/>
                <a:cs typeface="IBM Plex Sans" pitchFamily="34" charset="-120"/>
              </a:rPr>
              <a:t>SOCIAL ENGINEERING</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5F6F2"/>
                </a:solidFill>
                <a:latin typeface="Rubik" pitchFamily="34" charset="0"/>
                <a:ea typeface="Rubik" pitchFamily="34" charset="-122"/>
                <a:cs typeface="Rubik" pitchFamily="34" charset="-120"/>
              </a:rPr>
              <a:t>How attackers manipulate people</a:t>
            </a:r>
            <a:endParaRPr lang="en-US" sz="3200" dirty="0"/>
          </a:p>
        </p:txBody>
      </p:sp>
      <p:sp>
        <p:nvSpPr>
          <p:cNvPr id="4" name="Text 2"/>
          <p:cNvSpPr/>
          <p:nvPr/>
        </p:nvSpPr>
        <p:spPr>
          <a:xfrm>
            <a:off x="812800" y="187444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5D0E0"/>
                </a:solidFill>
                <a:latin typeface="IBM Plex Sans" pitchFamily="34" charset="0"/>
                <a:ea typeface="IBM Plex Sans" pitchFamily="34" charset="-122"/>
                <a:cs typeface="IBM Plex Sans" pitchFamily="34" charset="-120"/>
              </a:rPr>
              <a:t>Social engineering targets human behavior, not software. These five triggers appear again and again.</a:t>
            </a:r>
            <a:endParaRPr lang="en-US" sz="1600" dirty="0"/>
          </a:p>
        </p:txBody>
      </p:sp>
      <p:sp>
        <p:nvSpPr>
          <p:cNvPr id="5" name="Shape 3"/>
          <p:cNvSpPr/>
          <p:nvPr/>
        </p:nvSpPr>
        <p:spPr>
          <a:xfrm>
            <a:off x="815975" y="2466876"/>
            <a:ext cx="1984970" cy="1550640"/>
          </a:xfrm>
          <a:prstGeom prst="roundRect">
            <a:avLst>
              <a:gd name="adj" fmla="val 6347"/>
            </a:avLst>
          </a:prstGeom>
          <a:solidFill>
            <a:srgbClr val="1B2A44"/>
          </a:solidFill>
          <a:ln w="6350">
            <a:solidFill>
              <a:srgbClr val="2B3D5E"/>
            </a:solidFill>
            <a:prstDash val="solid"/>
          </a:ln>
        </p:spPr>
      </p:sp>
      <p:pic>
        <p:nvPicPr>
          <p:cNvPr id="6" name="Image 0" descr="Clock">    </p:cNvPr>
          <p:cNvPicPr>
            <a:picLocks noChangeAspect="1"/>
          </p:cNvPicPr>
          <p:nvPr/>
        </p:nvPicPr>
        <p:blipFill>
          <a:blip r:embed="rId1"/>
          <a:srcRect l="0" r="0" t="0" b="0"/>
          <a:stretch/>
        </p:blipFill>
        <p:spPr>
          <a:xfrm>
            <a:off x="996950" y="2647851"/>
            <a:ext cx="304800" cy="304800"/>
          </a:xfrm>
          <a:prstGeom prst="rect">
            <a:avLst/>
          </a:prstGeom>
        </p:spPr>
      </p:pic>
      <p:sp>
        <p:nvSpPr>
          <p:cNvPr id="7" name="Text 4"/>
          <p:cNvSpPr/>
          <p:nvPr/>
        </p:nvSpPr>
        <p:spPr>
          <a:xfrm>
            <a:off x="996950" y="3041551"/>
            <a:ext cx="16738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6F2"/>
                </a:solidFill>
                <a:latin typeface="IBM Plex Sans" pitchFamily="34" charset="0"/>
                <a:ea typeface="IBM Plex Sans" pitchFamily="34" charset="-122"/>
                <a:cs typeface="IBM Plex Sans" pitchFamily="34" charset="-120"/>
              </a:rPr>
              <a:t>Urgency</a:t>
            </a:r>
            <a:endParaRPr lang="en-US" sz="1600" dirty="0"/>
          </a:p>
        </p:txBody>
      </p:sp>
      <p:sp>
        <p:nvSpPr>
          <p:cNvPr id="8" name="Text 5"/>
          <p:cNvSpPr/>
          <p:nvPr/>
        </p:nvSpPr>
        <p:spPr>
          <a:xfrm>
            <a:off x="996950" y="3374281"/>
            <a:ext cx="167382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D0E0"/>
                </a:solidFill>
                <a:latin typeface="IBM Plex Sans" pitchFamily="34" charset="0"/>
                <a:ea typeface="IBM Plex Sans" pitchFamily="34" charset="-122"/>
                <a:cs typeface="IBM Plex Sans" pitchFamily="34" charset="-120"/>
              </a:rPr>
              <a:t>Act now or lose access.</a:t>
            </a:r>
            <a:endParaRPr lang="en-US" sz="1300" dirty="0"/>
          </a:p>
        </p:txBody>
      </p:sp>
      <p:sp>
        <p:nvSpPr>
          <p:cNvPr id="9" name="Shape 6"/>
          <p:cNvSpPr/>
          <p:nvPr/>
        </p:nvSpPr>
        <p:spPr>
          <a:xfrm>
            <a:off x="2959695" y="2466876"/>
            <a:ext cx="1985020" cy="1550640"/>
          </a:xfrm>
          <a:prstGeom prst="roundRect">
            <a:avLst>
              <a:gd name="adj" fmla="val 6347"/>
            </a:avLst>
          </a:prstGeom>
          <a:solidFill>
            <a:srgbClr val="1B2A44"/>
          </a:solidFill>
          <a:ln w="6350">
            <a:solidFill>
              <a:srgbClr val="2B3D5E"/>
            </a:solidFill>
            <a:prstDash val="solid"/>
          </a:ln>
        </p:spPr>
      </p:sp>
      <p:pic>
        <p:nvPicPr>
          <p:cNvPr id="10" name="Image 1" descr="Verified">    </p:cNvPr>
          <p:cNvPicPr>
            <a:picLocks noChangeAspect="1"/>
          </p:cNvPicPr>
          <p:nvPr/>
        </p:nvPicPr>
        <p:blipFill>
          <a:blip r:embed="rId2"/>
          <a:srcRect l="0" r="0" t="0" b="0"/>
          <a:stretch/>
        </p:blipFill>
        <p:spPr>
          <a:xfrm>
            <a:off x="3140670" y="2647851"/>
            <a:ext cx="304800" cy="304800"/>
          </a:xfrm>
          <a:prstGeom prst="rect">
            <a:avLst/>
          </a:prstGeom>
        </p:spPr>
      </p:pic>
      <p:sp>
        <p:nvSpPr>
          <p:cNvPr id="11" name="Text 7"/>
          <p:cNvSpPr/>
          <p:nvPr/>
        </p:nvSpPr>
        <p:spPr>
          <a:xfrm>
            <a:off x="3140670" y="3041551"/>
            <a:ext cx="16738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6F2"/>
                </a:solidFill>
                <a:latin typeface="IBM Plex Sans" pitchFamily="34" charset="0"/>
                <a:ea typeface="IBM Plex Sans" pitchFamily="34" charset="-122"/>
                <a:cs typeface="IBM Plex Sans" pitchFamily="34" charset="-120"/>
              </a:rPr>
              <a:t>Authority</a:t>
            </a:r>
            <a:endParaRPr lang="en-US" sz="1600" dirty="0"/>
          </a:p>
        </p:txBody>
      </p:sp>
      <p:sp>
        <p:nvSpPr>
          <p:cNvPr id="12" name="Text 8"/>
          <p:cNvSpPr/>
          <p:nvPr/>
        </p:nvSpPr>
        <p:spPr>
          <a:xfrm>
            <a:off x="3140670" y="3374281"/>
            <a:ext cx="167387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D0E0"/>
                </a:solidFill>
                <a:latin typeface="IBM Plex Sans" pitchFamily="34" charset="0"/>
                <a:ea typeface="IBM Plex Sans" pitchFamily="34" charset="-122"/>
                <a:cs typeface="IBM Plex Sans" pitchFamily="34" charset="-120"/>
              </a:rPr>
              <a:t>An order from a boss, bank or official.</a:t>
            </a:r>
            <a:endParaRPr lang="en-US" sz="1300" dirty="0"/>
          </a:p>
        </p:txBody>
      </p:sp>
      <p:sp>
        <p:nvSpPr>
          <p:cNvPr id="13" name="Shape 9"/>
          <p:cNvSpPr/>
          <p:nvPr/>
        </p:nvSpPr>
        <p:spPr>
          <a:xfrm>
            <a:off x="5103465" y="2466876"/>
            <a:ext cx="1985020" cy="1550640"/>
          </a:xfrm>
          <a:prstGeom prst="roundRect">
            <a:avLst>
              <a:gd name="adj" fmla="val 6347"/>
            </a:avLst>
          </a:prstGeom>
          <a:solidFill>
            <a:srgbClr val="1B2A44"/>
          </a:solidFill>
          <a:ln w="6350">
            <a:solidFill>
              <a:srgbClr val="2B3D5E"/>
            </a:solidFill>
            <a:prstDash val="solid"/>
          </a:ln>
        </p:spPr>
      </p:sp>
      <p:pic>
        <p:nvPicPr>
          <p:cNvPr id="14" name="Image 2" descr="Warning">    </p:cNvPr>
          <p:cNvPicPr>
            <a:picLocks noChangeAspect="1"/>
          </p:cNvPicPr>
          <p:nvPr/>
        </p:nvPicPr>
        <p:blipFill>
          <a:blip r:embed="rId3"/>
          <a:srcRect l="0" r="0" t="0" b="0"/>
          <a:stretch/>
        </p:blipFill>
        <p:spPr>
          <a:xfrm>
            <a:off x="5284440" y="2647851"/>
            <a:ext cx="304800" cy="304800"/>
          </a:xfrm>
          <a:prstGeom prst="rect">
            <a:avLst/>
          </a:prstGeom>
        </p:spPr>
      </p:pic>
      <p:sp>
        <p:nvSpPr>
          <p:cNvPr id="15" name="Text 10"/>
          <p:cNvSpPr/>
          <p:nvPr/>
        </p:nvSpPr>
        <p:spPr>
          <a:xfrm>
            <a:off x="5284440" y="3041551"/>
            <a:ext cx="16738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6F2"/>
                </a:solidFill>
                <a:latin typeface="IBM Plex Sans" pitchFamily="34" charset="0"/>
                <a:ea typeface="IBM Plex Sans" pitchFamily="34" charset="-122"/>
                <a:cs typeface="IBM Plex Sans" pitchFamily="34" charset="-120"/>
              </a:rPr>
              <a:t>Fear</a:t>
            </a:r>
            <a:endParaRPr lang="en-US" sz="1600" dirty="0"/>
          </a:p>
        </p:txBody>
      </p:sp>
      <p:sp>
        <p:nvSpPr>
          <p:cNvPr id="16" name="Text 11"/>
          <p:cNvSpPr/>
          <p:nvPr/>
        </p:nvSpPr>
        <p:spPr>
          <a:xfrm>
            <a:off x="5284440" y="3374281"/>
            <a:ext cx="167387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D0E0"/>
                </a:solidFill>
                <a:latin typeface="IBM Plex Sans" pitchFamily="34" charset="0"/>
                <a:ea typeface="IBM Plex Sans" pitchFamily="34" charset="-122"/>
                <a:cs typeface="IBM Plex Sans" pitchFamily="34" charset="-120"/>
              </a:rPr>
              <a:t>Threats of fines, bans or legal action.</a:t>
            </a:r>
            <a:endParaRPr lang="en-US" sz="1300" dirty="0"/>
          </a:p>
        </p:txBody>
      </p:sp>
      <p:sp>
        <p:nvSpPr>
          <p:cNvPr id="17" name="Shape 12"/>
          <p:cNvSpPr/>
          <p:nvPr/>
        </p:nvSpPr>
        <p:spPr>
          <a:xfrm>
            <a:off x="7247235" y="2466876"/>
            <a:ext cx="1985020" cy="1550640"/>
          </a:xfrm>
          <a:prstGeom prst="roundRect">
            <a:avLst>
              <a:gd name="adj" fmla="val 6347"/>
            </a:avLst>
          </a:prstGeom>
          <a:solidFill>
            <a:srgbClr val="1B2A44"/>
          </a:solidFill>
          <a:ln w="6350">
            <a:solidFill>
              <a:srgbClr val="2B3D5E"/>
            </a:solidFill>
            <a:prstDash val="solid"/>
          </a:ln>
        </p:spPr>
      </p:sp>
      <p:pic>
        <p:nvPicPr>
          <p:cNvPr id="18" name="Image 3" descr="Star">    </p:cNvPr>
          <p:cNvPicPr>
            <a:picLocks noChangeAspect="1"/>
          </p:cNvPicPr>
          <p:nvPr/>
        </p:nvPicPr>
        <p:blipFill>
          <a:blip r:embed="rId4"/>
          <a:srcRect l="0" r="0" t="0" b="0"/>
          <a:stretch/>
        </p:blipFill>
        <p:spPr>
          <a:xfrm>
            <a:off x="7428210" y="2647851"/>
            <a:ext cx="304800" cy="304800"/>
          </a:xfrm>
          <a:prstGeom prst="rect">
            <a:avLst/>
          </a:prstGeom>
        </p:spPr>
      </p:pic>
      <p:sp>
        <p:nvSpPr>
          <p:cNvPr id="19" name="Text 13"/>
          <p:cNvSpPr/>
          <p:nvPr/>
        </p:nvSpPr>
        <p:spPr>
          <a:xfrm>
            <a:off x="7428210" y="3041551"/>
            <a:ext cx="16738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6F2"/>
                </a:solidFill>
                <a:latin typeface="IBM Plex Sans" pitchFamily="34" charset="0"/>
                <a:ea typeface="IBM Plex Sans" pitchFamily="34" charset="-122"/>
                <a:cs typeface="IBM Plex Sans" pitchFamily="34" charset="-120"/>
              </a:rPr>
              <a:t>Greed</a:t>
            </a:r>
            <a:endParaRPr lang="en-US" sz="1600" dirty="0"/>
          </a:p>
        </p:txBody>
      </p:sp>
      <p:sp>
        <p:nvSpPr>
          <p:cNvPr id="20" name="Text 14"/>
          <p:cNvSpPr/>
          <p:nvPr/>
        </p:nvSpPr>
        <p:spPr>
          <a:xfrm>
            <a:off x="7428210" y="3374281"/>
            <a:ext cx="167387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D0E0"/>
                </a:solidFill>
                <a:latin typeface="IBM Plex Sans" pitchFamily="34" charset="0"/>
                <a:ea typeface="IBM Plex Sans" pitchFamily="34" charset="-122"/>
                <a:cs typeface="IBM Plex Sans" pitchFamily="34" charset="-120"/>
              </a:rPr>
              <a:t>Prizes, refunds and too-good offers.</a:t>
            </a:r>
            <a:endParaRPr lang="en-US" sz="1300" dirty="0"/>
          </a:p>
        </p:txBody>
      </p:sp>
      <p:sp>
        <p:nvSpPr>
          <p:cNvPr id="21" name="Shape 15"/>
          <p:cNvSpPr/>
          <p:nvPr/>
        </p:nvSpPr>
        <p:spPr>
          <a:xfrm>
            <a:off x="9391005" y="2466876"/>
            <a:ext cx="1985020" cy="1550640"/>
          </a:xfrm>
          <a:prstGeom prst="roundRect">
            <a:avLst>
              <a:gd name="adj" fmla="val 6347"/>
            </a:avLst>
          </a:prstGeom>
          <a:solidFill>
            <a:srgbClr val="1B2A44"/>
          </a:solidFill>
          <a:ln w="6350">
            <a:solidFill>
              <a:srgbClr val="2B3D5E"/>
            </a:solidFill>
            <a:prstDash val="solid"/>
          </a:ln>
        </p:spPr>
      </p:sp>
      <p:pic>
        <p:nvPicPr>
          <p:cNvPr id="22" name="Image 4" descr="Users">    </p:cNvPr>
          <p:cNvPicPr>
            <a:picLocks noChangeAspect="1"/>
          </p:cNvPicPr>
          <p:nvPr/>
        </p:nvPicPr>
        <p:blipFill>
          <a:blip r:embed="rId5"/>
          <a:srcRect l="0" r="0" t="0" b="0"/>
          <a:stretch/>
        </p:blipFill>
        <p:spPr>
          <a:xfrm>
            <a:off x="9571980" y="2647851"/>
            <a:ext cx="304800" cy="304800"/>
          </a:xfrm>
          <a:prstGeom prst="rect">
            <a:avLst/>
          </a:prstGeom>
        </p:spPr>
      </p:pic>
      <p:sp>
        <p:nvSpPr>
          <p:cNvPr id="23" name="Text 16"/>
          <p:cNvSpPr/>
          <p:nvPr/>
        </p:nvSpPr>
        <p:spPr>
          <a:xfrm>
            <a:off x="9571980" y="3041551"/>
            <a:ext cx="16738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6F2"/>
                </a:solidFill>
                <a:latin typeface="IBM Plex Sans" pitchFamily="34" charset="0"/>
                <a:ea typeface="IBM Plex Sans" pitchFamily="34" charset="-122"/>
                <a:cs typeface="IBM Plex Sans" pitchFamily="34" charset="-120"/>
              </a:rPr>
              <a:t>Trust</a:t>
            </a:r>
            <a:endParaRPr lang="en-US" sz="1600" dirty="0"/>
          </a:p>
        </p:txBody>
      </p:sp>
      <p:sp>
        <p:nvSpPr>
          <p:cNvPr id="24" name="Text 17"/>
          <p:cNvSpPr/>
          <p:nvPr/>
        </p:nvSpPr>
        <p:spPr>
          <a:xfrm>
            <a:off x="9571980" y="3374281"/>
            <a:ext cx="167387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D0E0"/>
                </a:solidFill>
                <a:latin typeface="IBM Plex Sans" pitchFamily="34" charset="0"/>
                <a:ea typeface="IBM Plex Sans" pitchFamily="34" charset="-122"/>
                <a:cs typeface="IBM Plex Sans" pitchFamily="34" charset="-120"/>
              </a:rPr>
              <a:t>A familiar name, logo or colleague.</a:t>
            </a:r>
            <a:endParaRPr lang="en-US" sz="1300" dirty="0"/>
          </a:p>
        </p:txBody>
      </p:sp>
      <p:sp>
        <p:nvSpPr>
          <p:cNvPr id="25" name="Text 1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C"/>
                </a:solidFill>
                <a:latin typeface="IBM Plex Sans" pitchFamily="34" charset="0"/>
                <a:ea typeface="IBM Plex Sans" pitchFamily="34" charset="-122"/>
                <a:cs typeface="IBM Plex Sans" pitchFamily="34" charset="-120"/>
              </a:rPr>
              <a:t>Phishing Awareness Training</a:t>
            </a:r>
            <a:endParaRPr lang="en-US" sz="1200" dirty="0"/>
          </a:p>
        </p:txBody>
      </p:sp>
      <p:sp>
        <p:nvSpPr>
          <p:cNvPr id="26"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7BC"/>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9"/>
                </a:solidFill>
                <a:latin typeface="IBM Plex Sans" pitchFamily="34" charset="0"/>
                <a:ea typeface="IBM Plex Sans" pitchFamily="34" charset="-122"/>
                <a:cs typeface="IBM Plex Sans" pitchFamily="34" charset="-120"/>
              </a:rPr>
              <a:t>SOCIAL ENGINEERING</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1A2B"/>
                </a:solidFill>
                <a:latin typeface="Rubik" pitchFamily="34" charset="0"/>
                <a:ea typeface="Rubik" pitchFamily="34" charset="-122"/>
                <a:cs typeface="Rubik" pitchFamily="34" charset="-120"/>
              </a:rPr>
              <a:t>Common attacker tactics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87141"/>
          <a:ext cx="10553700" cy="2387054"/>
        </p:xfrm>
        <a:graphic>
          <a:graphicData uri="http://schemas.openxmlformats.org/drawingml/2006/table">
            <a:tbl>
              <a:tblPr/>
              <a:tblGrid>
                <a:gridCol w="2110740"/>
                <a:gridCol w="3799332"/>
                <a:gridCol w="4643628"/>
              </a:tblGrid>
              <a:tr h="359321">
                <a:tc>
                  <a:txBody>
                    <a:bodyPr/>
                    <a:lstStyle/>
                    <a:p>
                      <a:pPr indent="0" marL="0">
                        <a:lnSpc>
                          <a:spcPts val="1820"/>
                        </a:lnSpc>
                        <a:buNone/>
                      </a:pPr>
                      <a:r>
                        <a:rPr lang="en-US" sz="1300" b="1" dirty="0">
                          <a:solidFill>
                            <a:srgbClr val="F5F6F2"/>
                          </a:solidFill>
                          <a:latin typeface="IBM Plex Sans" pitchFamily="34" charset="0"/>
                          <a:ea typeface="IBM Plex Sans" pitchFamily="34" charset="-122"/>
                          <a:cs typeface="IBM Plex Sans" pitchFamily="34" charset="-120"/>
                        </a:rPr>
                        <a:t>Tactic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1"/>
                      </a:solidFill>
                      <a:prstDash val="solid"/>
                      <a:round/>
                      <a:headEnd type="none" w="med" len="med"/>
                      <a:tailEnd type="none" w="med" len="med"/>
                    </a:lnL>
                    <a:lnR w="12700" cap="flat" cmpd="sng" algn="ctr">
                      <a:solidFill>
                        <a:srgbClr val="111926"/>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111926"/>
                      </a:solidFill>
                      <a:prstDash val="solid"/>
                      <a:round/>
                      <a:headEnd type="none" w="med" len="med"/>
                      <a:tailEnd type="none" w="med" len="med"/>
                    </a:lnB>
                    <a:solidFill>
                      <a:srgbClr val="101A2B"/>
                    </a:solidFill>
                  </a:tcPr>
                </a:tc>
                <a:tc>
                  <a:txBody>
                    <a:bodyPr/>
                    <a:lstStyle/>
                    <a:p>
                      <a:pPr indent="0" marL="0">
                        <a:lnSpc>
                          <a:spcPts val="1820"/>
                        </a:lnSpc>
                        <a:buNone/>
                      </a:pPr>
                      <a:r>
                        <a:rPr lang="en-US" sz="1300" b="1" dirty="0">
                          <a:solidFill>
                            <a:srgbClr val="F5F6F2"/>
                          </a:solidFill>
                          <a:latin typeface="IBM Plex Sans" pitchFamily="34" charset="0"/>
                          <a:ea typeface="IBM Plex Sans" pitchFamily="34" charset="-122"/>
                          <a:cs typeface="IBM Plex Sans" pitchFamily="34" charset="-120"/>
                        </a:rPr>
                        <a:t>How it works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11926"/>
                      </a:solidFill>
                      <a:prstDash val="solid"/>
                      <a:round/>
                      <a:headEnd type="none" w="med" len="med"/>
                      <a:tailEnd type="none" w="med" len="med"/>
                    </a:lnL>
                    <a:lnR w="12700" cap="flat" cmpd="sng" algn="ctr">
                      <a:solidFill>
                        <a:srgbClr val="111926"/>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111926"/>
                      </a:solidFill>
                      <a:prstDash val="solid"/>
                      <a:round/>
                      <a:headEnd type="none" w="med" len="med"/>
                      <a:tailEnd type="none" w="med" len="med"/>
                    </a:lnB>
                    <a:solidFill>
                      <a:srgbClr val="101A2B"/>
                    </a:solidFill>
                  </a:tcPr>
                </a:tc>
                <a:tc>
                  <a:txBody>
                    <a:bodyPr/>
                    <a:lstStyle/>
                    <a:p>
                      <a:pPr indent="0" marL="0">
                        <a:lnSpc>
                          <a:spcPts val="1820"/>
                        </a:lnSpc>
                        <a:buNone/>
                      </a:pPr>
                      <a:r>
                        <a:rPr lang="en-US" sz="1300" b="1" dirty="0">
                          <a:solidFill>
                            <a:srgbClr val="F5F6F2"/>
                          </a:solidFill>
                          <a:latin typeface="IBM Plex Sans" pitchFamily="34" charset="0"/>
                          <a:ea typeface="IBM Plex Sans" pitchFamily="34" charset="-122"/>
                          <a:cs typeface="IBM Plex Sans" pitchFamily="34" charset="-120"/>
                        </a:rPr>
                        <a:t>Example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11926"/>
                      </a:solidFill>
                      <a:prstDash val="solid"/>
                      <a:round/>
                      <a:headEnd type="none" w="med" len="med"/>
                      <a:tailEnd type="none" w="med" len="med"/>
                    </a:lnL>
                    <a:lnR w="12700" cap="flat" cmpd="sng" algn="ctr">
                      <a:solidFill>
                        <a:srgbClr val="111926"/>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111926"/>
                      </a:solidFill>
                      <a:prstDash val="solid"/>
                      <a:round/>
                      <a:headEnd type="none" w="med" len="med"/>
                      <a:tailEnd type="none" w="med" len="med"/>
                    </a:lnB>
                    <a:solidFill>
                      <a:srgbClr val="101A2B"/>
                    </a:solidFill>
                  </a:tcPr>
                </a:tc>
              </a:tr>
              <a:tr h="590451">
                <a:tc>
                  <a:txBody>
                    <a:bodyPr/>
                    <a:lstStyle/>
                    <a:p>
                      <a:pPr indent="0" marL="0">
                        <a:lnSpc>
                          <a:spcPts val="1820"/>
                        </a:lnSpc>
                        <a:buNone/>
                      </a:pPr>
                      <a:r>
                        <a:rPr lang="en-US" sz="1300" dirty="0">
                          <a:solidFill>
                            <a:srgbClr val="101A2B"/>
                          </a:solidFill>
                          <a:latin typeface="IBM Plex Sans" pitchFamily="34" charset="0"/>
                          <a:ea typeface="IBM Plex Sans" pitchFamily="34" charset="-122"/>
                          <a:cs typeface="IBM Plex Sans" pitchFamily="34" charset="-120"/>
                        </a:rPr>
                        <a:t>Pretexting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111926"/>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820"/>
                        </a:lnSpc>
                        <a:buNone/>
                      </a:pPr>
                      <a:r>
                        <a:rPr lang="en-US" sz="1300" dirty="0">
                          <a:solidFill>
                            <a:srgbClr val="101A2B"/>
                          </a:solidFill>
                          <a:latin typeface="IBM Plex Sans" pitchFamily="34" charset="0"/>
                          <a:ea typeface="IBM Plex Sans" pitchFamily="34" charset="-122"/>
                          <a:cs typeface="IBM Plex Sans" pitchFamily="34" charset="-120"/>
                        </a:rPr>
                        <a:t>A made-up story that makes the request seem normal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111926"/>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820"/>
                        </a:lnSpc>
                        <a:buNone/>
                      </a:pPr>
                      <a:r>
                        <a:rPr lang="en-US" sz="1300" dirty="0">
                          <a:solidFill>
                            <a:srgbClr val="101A2B"/>
                          </a:solidFill>
                          <a:latin typeface="IBM Plex Sans" pitchFamily="34" charset="0"/>
                          <a:ea typeface="IBM Plex Sans" pitchFamily="34" charset="-122"/>
                          <a:cs typeface="IBM Plex Sans" pitchFamily="34" charset="-120"/>
                        </a:rPr>
                        <a:t>“IT here, read me your code to fix your account.”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111926"/>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r>
              <a:tr h="359321">
                <a:tc>
                  <a:txBody>
                    <a:bodyPr/>
                    <a:lstStyle/>
                    <a:p>
                      <a:pPr indent="0" marL="0">
                        <a:lnSpc>
                          <a:spcPts val="1820"/>
                        </a:lnSpc>
                        <a:buNone/>
                      </a:pPr>
                      <a:r>
                        <a:rPr lang="en-US" sz="1300" dirty="0">
                          <a:solidFill>
                            <a:srgbClr val="101A2B"/>
                          </a:solidFill>
                          <a:latin typeface="IBM Plex Sans" pitchFamily="34" charset="0"/>
                          <a:ea typeface="IBM Plex Sans" pitchFamily="34" charset="-122"/>
                          <a:cs typeface="IBM Plex Sans" pitchFamily="34" charset="-120"/>
                        </a:rPr>
                        <a:t>Baiting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1"/>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tc>
                  <a:txBody>
                    <a:bodyPr/>
                    <a:lstStyle/>
                    <a:p>
                      <a:pPr indent="0" marL="0">
                        <a:lnSpc>
                          <a:spcPts val="1820"/>
                        </a:lnSpc>
                        <a:buNone/>
                      </a:pPr>
                      <a:r>
                        <a:rPr lang="en-US" sz="1300" dirty="0">
                          <a:solidFill>
                            <a:srgbClr val="101A2B"/>
                          </a:solidFill>
                          <a:latin typeface="IBM Plex Sans" pitchFamily="34" charset="0"/>
                          <a:ea typeface="IBM Plex Sans" pitchFamily="34" charset="-122"/>
                          <a:cs typeface="IBM Plex Sans" pitchFamily="34" charset="-120"/>
                        </a:rPr>
                        <a:t>Something tempting left for you to pick up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EB9"/>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tc>
                  <a:txBody>
                    <a:bodyPr/>
                    <a:lstStyle/>
                    <a:p>
                      <a:pPr indent="0" marL="0">
                        <a:lnSpc>
                          <a:spcPts val="1820"/>
                        </a:lnSpc>
                        <a:buNone/>
                      </a:pPr>
                      <a:r>
                        <a:rPr lang="en-US" sz="1300" dirty="0">
                          <a:solidFill>
                            <a:srgbClr val="101A2B"/>
                          </a:solidFill>
                          <a:latin typeface="IBM Plex Sans" pitchFamily="34" charset="0"/>
                          <a:ea typeface="IBM Plex Sans" pitchFamily="34" charset="-122"/>
                          <a:cs typeface="IBM Plex Sans" pitchFamily="34" charset="-120"/>
                        </a:rPr>
                        <a:t>A USB stick labelled “Salaries” left in the lobby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EB9"/>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tr>
              <a:tr h="359321">
                <a:tc>
                  <a:txBody>
                    <a:bodyPr/>
                    <a:lstStyle/>
                    <a:p>
                      <a:pPr indent="0" marL="0">
                        <a:lnSpc>
                          <a:spcPts val="1820"/>
                        </a:lnSpc>
                        <a:buNone/>
                      </a:pPr>
                      <a:r>
                        <a:rPr lang="en-US" sz="1300" dirty="0">
                          <a:solidFill>
                            <a:srgbClr val="101A2B"/>
                          </a:solidFill>
                          <a:latin typeface="IBM Plex Sans" pitchFamily="34" charset="0"/>
                          <a:ea typeface="IBM Plex Sans" pitchFamily="34" charset="-122"/>
                          <a:cs typeface="IBM Plex Sans" pitchFamily="34" charset="-120"/>
                        </a:rPr>
                        <a:t>Tailgating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BCBEB9"/>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820"/>
                        </a:lnSpc>
                        <a:buNone/>
                      </a:pPr>
                      <a:r>
                        <a:rPr lang="en-US" sz="1300" dirty="0">
                          <a:solidFill>
                            <a:srgbClr val="101A2B"/>
                          </a:solidFill>
                          <a:latin typeface="IBM Plex Sans" pitchFamily="34" charset="0"/>
                          <a:ea typeface="IBM Plex Sans" pitchFamily="34" charset="-122"/>
                          <a:cs typeface="IBM Plex Sans" pitchFamily="34" charset="-120"/>
                        </a:rPr>
                        <a:t>Walking in behind you to a restricted area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BCBEB9"/>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820"/>
                        </a:lnSpc>
                        <a:buNone/>
                      </a:pPr>
                      <a:r>
                        <a:rPr lang="en-US" sz="1300" dirty="0">
                          <a:solidFill>
                            <a:srgbClr val="101A2B"/>
                          </a:solidFill>
                          <a:latin typeface="IBM Plex Sans" pitchFamily="34" charset="0"/>
                          <a:ea typeface="IBM Plex Sans" pitchFamily="34" charset="-122"/>
                          <a:cs typeface="IBM Plex Sans" pitchFamily="34" charset="-120"/>
                        </a:rPr>
                        <a:t>“My hands are full, could you hold the door?”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BCBEB9"/>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r>
              <a:tr h="359321">
                <a:tc>
                  <a:txBody>
                    <a:bodyPr/>
                    <a:lstStyle/>
                    <a:p>
                      <a:pPr indent="0" marL="0">
                        <a:lnSpc>
                          <a:spcPts val="1820"/>
                        </a:lnSpc>
                        <a:buNone/>
                      </a:pPr>
                      <a:r>
                        <a:rPr lang="en-US" sz="1300" dirty="0">
                          <a:solidFill>
                            <a:srgbClr val="101A2B"/>
                          </a:solidFill>
                          <a:latin typeface="IBM Plex Sans" pitchFamily="34" charset="0"/>
                          <a:ea typeface="IBM Plex Sans" pitchFamily="34" charset="-122"/>
                          <a:cs typeface="IBM Plex Sans" pitchFamily="34" charset="-120"/>
                        </a:rPr>
                        <a:t>Vishing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1"/>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tc>
                  <a:txBody>
                    <a:bodyPr/>
                    <a:lstStyle/>
                    <a:p>
                      <a:pPr indent="0" marL="0">
                        <a:lnSpc>
                          <a:spcPts val="1820"/>
                        </a:lnSpc>
                        <a:buNone/>
                      </a:pPr>
                      <a:r>
                        <a:rPr lang="en-US" sz="1300" dirty="0">
                          <a:solidFill>
                            <a:srgbClr val="101A2B"/>
                          </a:solidFill>
                          <a:latin typeface="IBM Plex Sans" pitchFamily="34" charset="0"/>
                          <a:ea typeface="IBM Plex Sans" pitchFamily="34" charset="-122"/>
                          <a:cs typeface="IBM Plex Sans" pitchFamily="34" charset="-120"/>
                        </a:rPr>
                        <a:t>A live phone call that pressures you to act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EB9"/>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tc>
                  <a:txBody>
                    <a:bodyPr/>
                    <a:lstStyle/>
                    <a:p>
                      <a:pPr indent="0" marL="0">
                        <a:lnSpc>
                          <a:spcPts val="1820"/>
                        </a:lnSpc>
                        <a:buNone/>
                      </a:pPr>
                      <a:r>
                        <a:rPr lang="en-US" sz="1300" dirty="0">
                          <a:solidFill>
                            <a:srgbClr val="101A2B"/>
                          </a:solidFill>
                          <a:latin typeface="IBM Plex Sans" pitchFamily="34" charset="0"/>
                          <a:ea typeface="IBM Plex Sans" pitchFamily="34" charset="-122"/>
                          <a:cs typeface="IBM Plex Sans" pitchFamily="34" charset="-120"/>
                        </a:rPr>
                        <a:t>A fake bank agent asking for your OTP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EB9"/>
                      </a:solidFill>
                      <a:prstDash val="solid"/>
                      <a:round/>
                      <a:headEnd type="none" w="med" len="med"/>
                      <a:tailEnd type="none" w="med" len="med"/>
                    </a:lnL>
                    <a:lnR w="12700" cap="flat" cmpd="sng" algn="ctr">
                      <a:solidFill>
                        <a:srgbClr val="BCBEB9"/>
                      </a:solidFill>
                      <a:prstDash val="solid"/>
                      <a:round/>
                      <a:headEnd type="none" w="med" len="med"/>
                      <a:tailEnd type="none" w="med" len="med"/>
                    </a:lnR>
                    <a:lnT w="12700" cap="flat" cmpd="sng" algn="ctr">
                      <a:solidFill>
                        <a:srgbClr val="C4C4C1"/>
                      </a:solidFill>
                      <a:prstDash val="solid"/>
                      <a:round/>
                      <a:headEnd type="none" w="med" len="med"/>
                      <a:tailEnd type="none" w="med" len="med"/>
                    </a:lnT>
                    <a:lnB w="12700" cap="flat" cmpd="sng" algn="ctr">
                      <a:solidFill>
                        <a:srgbClr val="BCBEB9"/>
                      </a:solidFill>
                      <a:prstDash val="solid"/>
                      <a:round/>
                      <a:headEnd type="none" w="med" len="med"/>
                      <a:tailEnd type="none" w="med" len="med"/>
                    </a:lnB>
                    <a:solidFill>
                      <a:srgbClr val="ECEEE8"/>
                    </a:solidFill>
                  </a:tcPr>
                </a:tc>
              </a:tr>
              <a:tr h="359321">
                <a:tc>
                  <a:txBody>
                    <a:bodyPr/>
                    <a:lstStyle/>
                    <a:p>
                      <a:pPr indent="0" marL="0">
                        <a:lnSpc>
                          <a:spcPts val="1820"/>
                        </a:lnSpc>
                        <a:buNone/>
                      </a:pPr>
                      <a:r>
                        <a:rPr lang="en-US" sz="1300" dirty="0">
                          <a:solidFill>
                            <a:srgbClr val="101A2B"/>
                          </a:solidFill>
                          <a:latin typeface="IBM Plex Sans" pitchFamily="34" charset="0"/>
                          <a:ea typeface="IBM Plex Sans" pitchFamily="34" charset="-122"/>
                          <a:cs typeface="IBM Plex Sans" pitchFamily="34" charset="-120"/>
                        </a:rPr>
                        <a:t>Impersonation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BCBEB9"/>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820"/>
                        </a:lnSpc>
                        <a:buNone/>
                      </a:pPr>
                      <a:r>
                        <a:rPr lang="en-US" sz="1300" dirty="0">
                          <a:solidFill>
                            <a:srgbClr val="101A2B"/>
                          </a:solidFill>
                          <a:latin typeface="IBM Plex Sans" pitchFamily="34" charset="0"/>
                          <a:ea typeface="IBM Plex Sans" pitchFamily="34" charset="-122"/>
                          <a:cs typeface="IBM Plex Sans" pitchFamily="34" charset="-120"/>
                        </a:rPr>
                        <a:t>Posing as a boss or supplier to move money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BCBEB9"/>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c>
                  <a:txBody>
                    <a:bodyPr/>
                    <a:lstStyle/>
                    <a:p>
                      <a:pPr indent="0" marL="0">
                        <a:lnSpc>
                          <a:spcPts val="1820"/>
                        </a:lnSpc>
                        <a:buNone/>
                      </a:pPr>
                      <a:r>
                        <a:rPr lang="en-US" sz="1300" dirty="0">
                          <a:solidFill>
                            <a:srgbClr val="101A2B"/>
                          </a:solidFill>
                          <a:latin typeface="IBM Plex Sans" pitchFamily="34" charset="0"/>
                          <a:ea typeface="IBM Plex Sans" pitchFamily="34" charset="-122"/>
                          <a:cs typeface="IBM Plex Sans" pitchFamily="34" charset="-120"/>
                        </a:rPr>
                        <a:t>“Pay this invoice today, new account details attached.”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1"/>
                      </a:solidFill>
                      <a:prstDash val="solid"/>
                      <a:round/>
                      <a:headEnd type="none" w="med" len="med"/>
                      <a:tailEnd type="none" w="med" len="med"/>
                    </a:lnL>
                    <a:lnR w="12700" cap="flat" cmpd="sng" algn="ctr">
                      <a:solidFill>
                        <a:srgbClr val="C4C4C1"/>
                      </a:solidFill>
                      <a:prstDash val="solid"/>
                      <a:round/>
                      <a:headEnd type="none" w="med" len="med"/>
                      <a:tailEnd type="none" w="med" len="med"/>
                    </a:lnR>
                    <a:lnT w="12700" cap="flat" cmpd="sng" algn="ctr">
                      <a:solidFill>
                        <a:srgbClr val="BCBEB9"/>
                      </a:solidFill>
                      <a:prstDash val="solid"/>
                      <a:round/>
                      <a:headEnd type="none" w="med" len="med"/>
                      <a:tailEnd type="none" w="med" len="med"/>
                    </a:lnT>
                    <a:lnB w="12700" cap="flat" cmpd="sng" algn="ctr">
                      <a:solidFill>
                        <a:srgbClr val="C4C4C1"/>
                      </a:solidFill>
                      <a:prstDash val="solid"/>
                      <a:round/>
                      <a:headEnd type="none" w="med" len="med"/>
                      <a:tailEnd type="none" w="med" len="med"/>
                    </a:lnB>
                  </a:tcPr>
                </a:tc>
              </a:tr>
            </a:tbl>
          </a:graphicData>
        </a:graphic>
      </p:graphicFrame>
      <p:sp>
        <p:nvSpPr>
          <p:cNvPr id="5" name="Text 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Phishing Awareness Training</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9"/>
                </a:solidFill>
                <a:latin typeface="IBM Plex Sans" pitchFamily="34" charset="0"/>
                <a:ea typeface="IBM Plex Sans" pitchFamily="34" charset="-122"/>
                <a:cs typeface="IBM Plex Sans" pitchFamily="34" charset="-120"/>
              </a:rPr>
              <a:t>REAL-WORLD CASES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1A2B"/>
                </a:solidFill>
                <a:latin typeface="Rubik" pitchFamily="34" charset="0"/>
                <a:ea typeface="Rubik" pitchFamily="34" charset="-122"/>
                <a:cs typeface="Rubik" pitchFamily="34" charset="-120"/>
              </a:rPr>
              <a:t>Three incidents worth knowing</a:t>
            </a:r>
            <a:endParaRPr lang="en-US" sz="3200" dirty="0"/>
          </a:p>
        </p:txBody>
      </p:sp>
      <p:sp>
        <p:nvSpPr>
          <p:cNvPr id="4" name="Shape 2"/>
          <p:cNvSpPr/>
          <p:nvPr/>
        </p:nvSpPr>
        <p:spPr>
          <a:xfrm>
            <a:off x="815975" y="1877616"/>
            <a:ext cx="3414167" cy="2866281"/>
          </a:xfrm>
          <a:prstGeom prst="roundRect">
            <a:avLst>
              <a:gd name="adj" fmla="val 3434"/>
            </a:avLst>
          </a:prstGeom>
          <a:solidFill>
            <a:srgbClr val="FFFFFF"/>
          </a:solidFill>
          <a:ln w="6350">
            <a:solidFill>
              <a:srgbClr val="DDE1DA"/>
            </a:solidFill>
            <a:prstDash val="solid"/>
          </a:ln>
        </p:spPr>
      </p:sp>
      <p:sp>
        <p:nvSpPr>
          <p:cNvPr id="5" name="Text 3"/>
          <p:cNvSpPr/>
          <p:nvPr/>
        </p:nvSpPr>
        <p:spPr>
          <a:xfrm>
            <a:off x="1022350" y="2083991"/>
            <a:ext cx="3091459"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7766F"/>
                </a:solidFill>
                <a:latin typeface="Rubik" pitchFamily="34" charset="0"/>
                <a:ea typeface="Rubik" pitchFamily="34" charset="-122"/>
                <a:cs typeface="Rubik" pitchFamily="34" charset="-120"/>
              </a:rPr>
              <a:t>2016</a:t>
            </a:r>
            <a:endParaRPr lang="en-US" sz="2800" dirty="0"/>
          </a:p>
        </p:txBody>
      </p:sp>
      <p:sp>
        <p:nvSpPr>
          <p:cNvPr id="6" name="Text 4"/>
          <p:cNvSpPr/>
          <p:nvPr/>
        </p:nvSpPr>
        <p:spPr>
          <a:xfrm>
            <a:off x="1022350" y="255131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Fake security alert</a:t>
            </a:r>
            <a:endParaRPr lang="en-US" sz="1600" dirty="0"/>
          </a:p>
        </p:txBody>
      </p:sp>
      <p:sp>
        <p:nvSpPr>
          <p:cNvPr id="7" name="Text 5"/>
          <p:cNvSpPr/>
          <p:nvPr/>
        </p:nvSpPr>
        <p:spPr>
          <a:xfrm>
            <a:off x="1022350" y="2871341"/>
            <a:ext cx="3091459"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 spoofed Google alert sent a US campaign chairman to a lookalike login page. His email was later leaked.</a:t>
            </a:r>
            <a:endParaRPr lang="en-US" sz="1300" dirty="0"/>
          </a:p>
        </p:txBody>
      </p:sp>
      <p:sp>
        <p:nvSpPr>
          <p:cNvPr id="8" name="Text 6"/>
          <p:cNvSpPr/>
          <p:nvPr/>
        </p:nvSpPr>
        <p:spPr>
          <a:xfrm>
            <a:off x="1022350" y="3640931"/>
            <a:ext cx="3001417" cy="665460"/>
          </a:xfrm>
          <a:prstGeom prst="roundRect">
            <a:avLst>
              <a:gd name="adj" fmla="val 9542"/>
            </a:avLst>
          </a:prstGeom>
          <a:solidFill>
            <a:srgbClr val="E7F1EF"/>
          </a:solidFill>
          <a:ln/>
        </p:spPr>
        <p:txBody>
          <a:bodyPr wrap="square" lIns="108401" tIns="83001" rIns="25979" bIns="57601" rtlCol="0" anchor="t">
            <a:normAutofit/>
          </a:bodyPr>
          <a:lstStyle/>
          <a:p>
            <a:pPr algn="l" indent="0" marL="0">
              <a:lnSpc>
                <a:spcPts val="1820"/>
              </a:lnSpc>
              <a:buNone/>
            </a:pPr>
            <a:r>
              <a:rPr lang="en-US" sz="1300" b="1" dirty="0">
                <a:solidFill>
                  <a:srgbClr val="0F4F4A"/>
                </a:solidFill>
                <a:latin typeface="IBM Plex Sans" pitchFamily="34" charset="0"/>
                <a:ea typeface="IBM Plex Sans" pitchFamily="34" charset="-122"/>
                <a:cs typeface="IBM Plex Sans" pitchFamily="34" charset="-120"/>
              </a:rPr>
              <a:t>Lesson:</a:t>
            </a:r>
            <a:r>
              <a:rPr lang="en-US" sz="1300" dirty="0">
                <a:solidFill>
                  <a:srgbClr val="0F4F4A"/>
                </a:solidFill>
                <a:latin typeface="IBM Plex Sans" pitchFamily="34" charset="0"/>
                <a:ea typeface="IBM Plex Sans" pitchFamily="34" charset="-122"/>
                <a:cs typeface="IBM Plex Sans" pitchFamily="34" charset="-120"/>
              </a:rPr>
              <a:t> never log in from an alert link. Open the site yourself.</a:t>
            </a:r>
            <a:endParaRPr lang="en-US" sz="1300" dirty="0"/>
          </a:p>
        </p:txBody>
      </p:sp>
      <p:sp>
        <p:nvSpPr>
          <p:cNvPr id="9" name="Shape 7"/>
          <p:cNvSpPr/>
          <p:nvPr/>
        </p:nvSpPr>
        <p:spPr>
          <a:xfrm>
            <a:off x="4388892" y="1877616"/>
            <a:ext cx="3414216" cy="2866281"/>
          </a:xfrm>
          <a:prstGeom prst="roundRect">
            <a:avLst>
              <a:gd name="adj" fmla="val 3434"/>
            </a:avLst>
          </a:prstGeom>
          <a:solidFill>
            <a:srgbClr val="FFFFFF"/>
          </a:solidFill>
          <a:ln w="6350">
            <a:solidFill>
              <a:srgbClr val="DDE1DA"/>
            </a:solidFill>
            <a:prstDash val="solid"/>
          </a:ln>
        </p:spPr>
      </p:sp>
      <p:sp>
        <p:nvSpPr>
          <p:cNvPr id="10" name="Text 8"/>
          <p:cNvSpPr/>
          <p:nvPr/>
        </p:nvSpPr>
        <p:spPr>
          <a:xfrm>
            <a:off x="4595267" y="2083991"/>
            <a:ext cx="309151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7766F"/>
                </a:solidFill>
                <a:latin typeface="Rubik" pitchFamily="34" charset="0"/>
                <a:ea typeface="Rubik" pitchFamily="34" charset="-122"/>
                <a:cs typeface="Rubik" pitchFamily="34" charset="-120"/>
              </a:rPr>
              <a:t>2013–15</a:t>
            </a:r>
            <a:endParaRPr lang="en-US" sz="2800" dirty="0"/>
          </a:p>
        </p:txBody>
      </p:sp>
      <p:sp>
        <p:nvSpPr>
          <p:cNvPr id="11" name="Text 9"/>
          <p:cNvSpPr/>
          <p:nvPr/>
        </p:nvSpPr>
        <p:spPr>
          <a:xfrm>
            <a:off x="4595267" y="2551311"/>
            <a:ext cx="30915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Fake supplier invoices</a:t>
            </a:r>
            <a:endParaRPr lang="en-US" sz="1600" dirty="0"/>
          </a:p>
        </p:txBody>
      </p:sp>
      <p:sp>
        <p:nvSpPr>
          <p:cNvPr id="12" name="Text 10"/>
          <p:cNvSpPr/>
          <p:nvPr/>
        </p:nvSpPr>
        <p:spPr>
          <a:xfrm>
            <a:off x="4595267" y="2871341"/>
            <a:ext cx="3091510"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Criminals posing as a hardware supplier invoiced Google and Facebook. The firms paid over $100 million, most of it later recovered.</a:t>
            </a:r>
            <a:endParaRPr lang="en-US" sz="1300" dirty="0"/>
          </a:p>
        </p:txBody>
      </p:sp>
      <p:sp>
        <p:nvSpPr>
          <p:cNvPr id="13" name="Text 11"/>
          <p:cNvSpPr/>
          <p:nvPr/>
        </p:nvSpPr>
        <p:spPr>
          <a:xfrm>
            <a:off x="4595267" y="3872061"/>
            <a:ext cx="3001466" cy="665460"/>
          </a:xfrm>
          <a:prstGeom prst="roundRect">
            <a:avLst>
              <a:gd name="adj" fmla="val 9542"/>
            </a:avLst>
          </a:prstGeom>
          <a:solidFill>
            <a:srgbClr val="E7F1EF"/>
          </a:solidFill>
          <a:ln/>
        </p:spPr>
        <p:txBody>
          <a:bodyPr wrap="square" lIns="108401" tIns="83001" rIns="25977" bIns="57601" rtlCol="0" anchor="t">
            <a:normAutofit/>
          </a:bodyPr>
          <a:lstStyle/>
          <a:p>
            <a:pPr algn="l" indent="0" marL="0">
              <a:lnSpc>
                <a:spcPts val="1820"/>
              </a:lnSpc>
              <a:buNone/>
            </a:pPr>
            <a:r>
              <a:rPr lang="en-US" sz="1300" b="1" dirty="0">
                <a:solidFill>
                  <a:srgbClr val="0F4F4A"/>
                </a:solidFill>
                <a:latin typeface="IBM Plex Sans" pitchFamily="34" charset="0"/>
                <a:ea typeface="IBM Plex Sans" pitchFamily="34" charset="-122"/>
                <a:cs typeface="IBM Plex Sans" pitchFamily="34" charset="-120"/>
              </a:rPr>
              <a:t>Lesson:</a:t>
            </a:r>
            <a:r>
              <a:rPr lang="en-US" sz="1300" dirty="0">
                <a:solidFill>
                  <a:srgbClr val="0F4F4A"/>
                </a:solidFill>
                <a:latin typeface="IBM Plex Sans" pitchFamily="34" charset="0"/>
                <a:ea typeface="IBM Plex Sans" pitchFamily="34" charset="-122"/>
                <a:cs typeface="IBM Plex Sans" pitchFamily="34" charset="-120"/>
              </a:rPr>
              <a:t> confirm payment changes by calling a known number.</a:t>
            </a:r>
            <a:endParaRPr lang="en-US" sz="1300" dirty="0"/>
          </a:p>
        </p:txBody>
      </p:sp>
      <p:sp>
        <p:nvSpPr>
          <p:cNvPr id="14" name="Shape 12"/>
          <p:cNvSpPr/>
          <p:nvPr/>
        </p:nvSpPr>
        <p:spPr>
          <a:xfrm>
            <a:off x="7961858" y="1877616"/>
            <a:ext cx="3414167" cy="2866281"/>
          </a:xfrm>
          <a:prstGeom prst="roundRect">
            <a:avLst>
              <a:gd name="adj" fmla="val 3434"/>
            </a:avLst>
          </a:prstGeom>
          <a:solidFill>
            <a:srgbClr val="FFFFFF"/>
          </a:solidFill>
          <a:ln w="6350">
            <a:solidFill>
              <a:srgbClr val="DDE1DA"/>
            </a:solidFill>
            <a:prstDash val="solid"/>
          </a:ln>
        </p:spPr>
      </p:sp>
      <p:sp>
        <p:nvSpPr>
          <p:cNvPr id="15" name="Text 13"/>
          <p:cNvSpPr/>
          <p:nvPr/>
        </p:nvSpPr>
        <p:spPr>
          <a:xfrm>
            <a:off x="8168233" y="2083991"/>
            <a:ext cx="3091459"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7766F"/>
                </a:solidFill>
                <a:latin typeface="Rubik" pitchFamily="34" charset="0"/>
                <a:ea typeface="Rubik" pitchFamily="34" charset="-122"/>
                <a:cs typeface="Rubik" pitchFamily="34" charset="-120"/>
              </a:rPr>
              <a:t>2020</a:t>
            </a:r>
            <a:endParaRPr lang="en-US" sz="2800" dirty="0"/>
          </a:p>
        </p:txBody>
      </p:sp>
      <p:sp>
        <p:nvSpPr>
          <p:cNvPr id="16" name="Text 14"/>
          <p:cNvSpPr/>
          <p:nvPr/>
        </p:nvSpPr>
        <p:spPr>
          <a:xfrm>
            <a:off x="8168233" y="255131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Phone phishing at Twitter</a:t>
            </a:r>
            <a:endParaRPr lang="en-US" sz="1600" dirty="0"/>
          </a:p>
        </p:txBody>
      </p:sp>
      <p:sp>
        <p:nvSpPr>
          <p:cNvPr id="17" name="Text 15"/>
          <p:cNvSpPr/>
          <p:nvPr/>
        </p:nvSpPr>
        <p:spPr>
          <a:xfrm>
            <a:off x="8168233" y="2871341"/>
            <a:ext cx="3091459"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Attackers phoned staff posing as IT and captured logins on a fake page. They then hijacked famous accounts for a Bitcoin scam.</a:t>
            </a:r>
            <a:endParaRPr lang="en-US" sz="1300" dirty="0"/>
          </a:p>
        </p:txBody>
      </p:sp>
      <p:sp>
        <p:nvSpPr>
          <p:cNvPr id="18" name="Text 16"/>
          <p:cNvSpPr/>
          <p:nvPr/>
        </p:nvSpPr>
        <p:spPr>
          <a:xfrm>
            <a:off x="8168233" y="3872061"/>
            <a:ext cx="3001417" cy="665460"/>
          </a:xfrm>
          <a:prstGeom prst="roundRect">
            <a:avLst>
              <a:gd name="adj" fmla="val 9542"/>
            </a:avLst>
          </a:prstGeom>
          <a:solidFill>
            <a:srgbClr val="E7F1EF"/>
          </a:solidFill>
          <a:ln/>
        </p:spPr>
        <p:txBody>
          <a:bodyPr wrap="square" lIns="108401" tIns="83001" rIns="25979" bIns="57601" rtlCol="0" anchor="t">
            <a:normAutofit/>
          </a:bodyPr>
          <a:lstStyle/>
          <a:p>
            <a:pPr algn="l" indent="0" marL="0">
              <a:lnSpc>
                <a:spcPts val="1820"/>
              </a:lnSpc>
              <a:buNone/>
            </a:pPr>
            <a:r>
              <a:rPr lang="en-US" sz="1300" b="1" dirty="0">
                <a:solidFill>
                  <a:srgbClr val="0F4F4A"/>
                </a:solidFill>
                <a:latin typeface="IBM Plex Sans" pitchFamily="34" charset="0"/>
                <a:ea typeface="IBM Plex Sans" pitchFamily="34" charset="-122"/>
                <a:cs typeface="IBM Plex Sans" pitchFamily="34" charset="-120"/>
              </a:rPr>
              <a:t>Lesson:</a:t>
            </a:r>
            <a:r>
              <a:rPr lang="en-US" sz="1300" dirty="0">
                <a:solidFill>
                  <a:srgbClr val="0F4F4A"/>
                </a:solidFill>
                <a:latin typeface="IBM Plex Sans" pitchFamily="34" charset="0"/>
                <a:ea typeface="IBM Plex Sans" pitchFamily="34" charset="-122"/>
                <a:cs typeface="IBM Plex Sans" pitchFamily="34" charset="-120"/>
              </a:rPr>
              <a:t> be wary of urgent calls. Call IT back on an official line.</a:t>
            </a:r>
            <a:endParaRPr lang="en-US" sz="1300" dirty="0"/>
          </a:p>
        </p:txBody>
      </p:sp>
      <p:sp>
        <p:nvSpPr>
          <p:cNvPr id="19" name="Text 17"/>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Sources: US Department of Justice, NY Dept. of Financial Services, press reports</a:t>
            </a:r>
            <a:endParaRPr lang="en-US" sz="1200" dirty="0"/>
          </a:p>
        </p:txBody>
      </p:sp>
      <p:sp>
        <p:nvSpPr>
          <p:cNvPr id="20"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9"/>
                </a:solidFill>
                <a:latin typeface="IBM Plex Sans" pitchFamily="34" charset="0"/>
                <a:ea typeface="IBM Plex Sans" pitchFamily="34" charset="-122"/>
                <a:cs typeface="IBM Plex Sans" pitchFamily="34" charset="-120"/>
              </a:rPr>
              <a:t>BEST PRACTICES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1A2B"/>
                </a:solidFill>
                <a:latin typeface="Rubik" pitchFamily="34" charset="0"/>
                <a:ea typeface="Rubik" pitchFamily="34" charset="-122"/>
                <a:cs typeface="Rubik" pitchFamily="34" charset="-120"/>
              </a:rPr>
              <a:t>How to avoid falling victim</a:t>
            </a:r>
            <a:endParaRPr lang="en-US" sz="3200" dirty="0"/>
          </a:p>
        </p:txBody>
      </p:sp>
      <p:sp>
        <p:nvSpPr>
          <p:cNvPr id="4" name="Shape 2"/>
          <p:cNvSpPr/>
          <p:nvPr/>
        </p:nvSpPr>
        <p:spPr>
          <a:xfrm>
            <a:off x="815975" y="1877616"/>
            <a:ext cx="5200650" cy="2975421"/>
          </a:xfrm>
          <a:prstGeom prst="roundRect">
            <a:avLst>
              <a:gd name="adj" fmla="val 3308"/>
            </a:avLst>
          </a:prstGeom>
          <a:solidFill>
            <a:srgbClr val="FFFFFF"/>
          </a:solidFill>
          <a:ln w="6350">
            <a:solidFill>
              <a:srgbClr val="DDE1DA"/>
            </a:solidFill>
            <a:prstDash val="solid"/>
          </a:ln>
        </p:spPr>
      </p:sp>
      <p:sp>
        <p:nvSpPr>
          <p:cNvPr id="5" name="Text 3"/>
          <p:cNvSpPr/>
          <p:nvPr/>
        </p:nvSpPr>
        <p:spPr>
          <a:xfrm>
            <a:off x="1047750" y="2083991"/>
            <a:ext cx="4879213"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7766F"/>
                </a:solidFill>
                <a:latin typeface="Rubik" pitchFamily="34" charset="0"/>
                <a:ea typeface="Rubik" pitchFamily="34" charset="-122"/>
                <a:cs typeface="Rubik" pitchFamily="34" charset="-120"/>
              </a:rPr>
              <a:t>Do</a:t>
            </a:r>
            <a:endParaRPr lang="en-US" sz="2200" dirty="0"/>
          </a:p>
        </p:txBody>
      </p:sp>
      <p:pic>
        <p:nvPicPr>
          <p:cNvPr id="6" name="Image 0" descr="Check">    </p:cNvPr>
          <p:cNvPicPr>
            <a:picLocks noChangeAspect="1"/>
          </p:cNvPicPr>
          <p:nvPr/>
        </p:nvPicPr>
        <p:blipFill>
          <a:blip r:embed="rId1"/>
          <a:srcRect l="0" r="0" t="0" b="0"/>
          <a:stretch/>
        </p:blipFill>
        <p:spPr>
          <a:xfrm>
            <a:off x="1047750" y="2541141"/>
            <a:ext cx="203200" cy="203200"/>
          </a:xfrm>
          <a:prstGeom prst="rect">
            <a:avLst/>
          </a:prstGeom>
        </p:spPr>
      </p:pic>
      <p:sp>
        <p:nvSpPr>
          <p:cNvPr id="7" name="Text 4"/>
          <p:cNvSpPr/>
          <p:nvPr/>
        </p:nvSpPr>
        <p:spPr>
          <a:xfrm>
            <a:off x="1365250" y="2518321"/>
            <a:ext cx="398389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Hover over links to check the real address</a:t>
            </a:r>
            <a:endParaRPr lang="en-US" sz="1400" dirty="0"/>
          </a:p>
        </p:txBody>
      </p:sp>
      <p:pic>
        <p:nvPicPr>
          <p:cNvPr id="8" name="Image 1" descr="Check">    </p:cNvPr>
          <p:cNvPicPr>
            <a:picLocks noChangeAspect="1"/>
          </p:cNvPicPr>
          <p:nvPr/>
        </p:nvPicPr>
        <p:blipFill>
          <a:blip r:embed="rId2"/>
          <a:srcRect l="0" r="0" t="0" b="0"/>
          <a:stretch/>
        </p:blipFill>
        <p:spPr>
          <a:xfrm>
            <a:off x="1047750" y="2917031"/>
            <a:ext cx="203200" cy="203200"/>
          </a:xfrm>
          <a:prstGeom prst="rect">
            <a:avLst/>
          </a:prstGeom>
        </p:spPr>
      </p:pic>
      <p:sp>
        <p:nvSpPr>
          <p:cNvPr id="9" name="Text 5"/>
          <p:cNvSpPr/>
          <p:nvPr/>
        </p:nvSpPr>
        <p:spPr>
          <a:xfrm>
            <a:off x="1365250" y="2894211"/>
            <a:ext cx="416141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Confirm requests through a second channel</a:t>
            </a:r>
            <a:endParaRPr lang="en-US" sz="1400" dirty="0"/>
          </a:p>
        </p:txBody>
      </p:sp>
      <p:pic>
        <p:nvPicPr>
          <p:cNvPr id="10" name="Image 2" descr="Check">    </p:cNvPr>
          <p:cNvPicPr>
            <a:picLocks noChangeAspect="1"/>
          </p:cNvPicPr>
          <p:nvPr/>
        </p:nvPicPr>
        <p:blipFill>
          <a:blip r:embed="rId3"/>
          <a:srcRect l="0" r="0" t="0" b="0"/>
          <a:stretch/>
        </p:blipFill>
        <p:spPr>
          <a:xfrm>
            <a:off x="1047750" y="3292921"/>
            <a:ext cx="203200" cy="203200"/>
          </a:xfrm>
          <a:prstGeom prst="rect">
            <a:avLst/>
          </a:prstGeom>
        </p:spPr>
      </p:pic>
      <p:sp>
        <p:nvSpPr>
          <p:cNvPr id="11" name="Text 6"/>
          <p:cNvSpPr/>
          <p:nvPr/>
        </p:nvSpPr>
        <p:spPr>
          <a:xfrm>
            <a:off x="1365250" y="3270101"/>
            <a:ext cx="335172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Turn on multi-factor authentication</a:t>
            </a:r>
            <a:endParaRPr lang="en-US" sz="1400" dirty="0"/>
          </a:p>
        </p:txBody>
      </p:sp>
      <p:pic>
        <p:nvPicPr>
          <p:cNvPr id="12" name="Image 3" descr="Check">    </p:cNvPr>
          <p:cNvPicPr>
            <a:picLocks noChangeAspect="1"/>
          </p:cNvPicPr>
          <p:nvPr/>
        </p:nvPicPr>
        <p:blipFill>
          <a:blip r:embed="rId4"/>
          <a:srcRect l="0" r="0" t="0" b="0"/>
          <a:stretch/>
        </p:blipFill>
        <p:spPr>
          <a:xfrm>
            <a:off x="1047750" y="3668812"/>
            <a:ext cx="203200" cy="203200"/>
          </a:xfrm>
          <a:prstGeom prst="rect">
            <a:avLst/>
          </a:prstGeom>
        </p:spPr>
      </p:pic>
      <p:sp>
        <p:nvSpPr>
          <p:cNvPr id="13" name="Text 7"/>
          <p:cNvSpPr/>
          <p:nvPr/>
        </p:nvSpPr>
        <p:spPr>
          <a:xfrm>
            <a:off x="1365250" y="3645991"/>
            <a:ext cx="422689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Use a password manager, unique passwords</a:t>
            </a:r>
            <a:endParaRPr lang="en-US" sz="1400" dirty="0"/>
          </a:p>
        </p:txBody>
      </p:sp>
      <p:pic>
        <p:nvPicPr>
          <p:cNvPr id="14" name="Image 4" descr="Check">    </p:cNvPr>
          <p:cNvPicPr>
            <a:picLocks noChangeAspect="1"/>
          </p:cNvPicPr>
          <p:nvPr/>
        </p:nvPicPr>
        <p:blipFill>
          <a:blip r:embed="rId5"/>
          <a:srcRect l="0" r="0" t="0" b="0"/>
          <a:stretch/>
        </p:blipFill>
        <p:spPr>
          <a:xfrm>
            <a:off x="1047750" y="4044702"/>
            <a:ext cx="203200" cy="203200"/>
          </a:xfrm>
          <a:prstGeom prst="rect">
            <a:avLst/>
          </a:prstGeom>
        </p:spPr>
      </p:pic>
      <p:sp>
        <p:nvSpPr>
          <p:cNvPr id="15" name="Text 8"/>
          <p:cNvSpPr/>
          <p:nvPr/>
        </p:nvSpPr>
        <p:spPr>
          <a:xfrm>
            <a:off x="1365250" y="4021882"/>
            <a:ext cx="384946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Keep your phone and computer updated</a:t>
            </a:r>
            <a:endParaRPr lang="en-US" sz="1400" dirty="0"/>
          </a:p>
        </p:txBody>
      </p:sp>
      <p:pic>
        <p:nvPicPr>
          <p:cNvPr id="16" name="Image 5" descr="Check">    </p:cNvPr>
          <p:cNvPicPr>
            <a:picLocks noChangeAspect="1"/>
          </p:cNvPicPr>
          <p:nvPr/>
        </p:nvPicPr>
        <p:blipFill>
          <a:blip r:embed="rId6"/>
          <a:srcRect l="0" r="0" t="0" b="0"/>
          <a:stretch/>
        </p:blipFill>
        <p:spPr>
          <a:xfrm>
            <a:off x="1047750" y="4420592"/>
            <a:ext cx="203200" cy="203200"/>
          </a:xfrm>
          <a:prstGeom prst="rect">
            <a:avLst/>
          </a:prstGeom>
        </p:spPr>
      </p:pic>
      <p:sp>
        <p:nvSpPr>
          <p:cNvPr id="17" name="Text 9"/>
          <p:cNvSpPr/>
          <p:nvPr/>
        </p:nvSpPr>
        <p:spPr>
          <a:xfrm>
            <a:off x="1365250" y="4397772"/>
            <a:ext cx="434959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Report suspicious messages to IT or the bank</a:t>
            </a:r>
            <a:endParaRPr lang="en-US" sz="1400" dirty="0"/>
          </a:p>
        </p:txBody>
      </p:sp>
      <p:sp>
        <p:nvSpPr>
          <p:cNvPr id="18" name="Shape 10"/>
          <p:cNvSpPr/>
          <p:nvPr/>
        </p:nvSpPr>
        <p:spPr>
          <a:xfrm>
            <a:off x="6175375" y="1877616"/>
            <a:ext cx="5200650" cy="2975421"/>
          </a:xfrm>
          <a:prstGeom prst="roundRect">
            <a:avLst>
              <a:gd name="adj" fmla="val 3308"/>
            </a:avLst>
          </a:prstGeom>
          <a:solidFill>
            <a:srgbClr val="FFFFFF"/>
          </a:solidFill>
          <a:ln w="6350">
            <a:solidFill>
              <a:srgbClr val="DDE1DA"/>
            </a:solidFill>
            <a:prstDash val="solid"/>
          </a:ln>
        </p:spPr>
      </p:sp>
      <p:sp>
        <p:nvSpPr>
          <p:cNvPr id="19" name="Text 11"/>
          <p:cNvSpPr/>
          <p:nvPr/>
        </p:nvSpPr>
        <p:spPr>
          <a:xfrm>
            <a:off x="6407150" y="2083991"/>
            <a:ext cx="4879213"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B45309"/>
                </a:solidFill>
                <a:latin typeface="Rubik" pitchFamily="34" charset="0"/>
                <a:ea typeface="Rubik" pitchFamily="34" charset="-122"/>
                <a:cs typeface="Rubik" pitchFamily="34" charset="-120"/>
              </a:rPr>
              <a:t>Don't</a:t>
            </a:r>
            <a:endParaRPr lang="en-US" sz="2200" dirty="0"/>
          </a:p>
        </p:txBody>
      </p:sp>
      <p:pic>
        <p:nvPicPr>
          <p:cNvPr id="20" name="Image 6" descr="Warning">    </p:cNvPr>
          <p:cNvPicPr>
            <a:picLocks noChangeAspect="1"/>
          </p:cNvPicPr>
          <p:nvPr/>
        </p:nvPicPr>
        <p:blipFill>
          <a:blip r:embed="rId7"/>
          <a:srcRect l="0" r="0" t="0" b="0"/>
          <a:stretch/>
        </p:blipFill>
        <p:spPr>
          <a:xfrm>
            <a:off x="6407150" y="2541141"/>
            <a:ext cx="203200" cy="203200"/>
          </a:xfrm>
          <a:prstGeom prst="rect">
            <a:avLst/>
          </a:prstGeom>
        </p:spPr>
      </p:pic>
      <p:sp>
        <p:nvSpPr>
          <p:cNvPr id="21" name="Text 12"/>
          <p:cNvSpPr/>
          <p:nvPr/>
        </p:nvSpPr>
        <p:spPr>
          <a:xfrm>
            <a:off x="6724650" y="2518321"/>
            <a:ext cx="364551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Click unexpected links or attachments</a:t>
            </a:r>
            <a:endParaRPr lang="en-US" sz="1400" dirty="0"/>
          </a:p>
        </p:txBody>
      </p:sp>
      <p:pic>
        <p:nvPicPr>
          <p:cNvPr id="22" name="Image 7" descr="Warning">    </p:cNvPr>
          <p:cNvPicPr>
            <a:picLocks noChangeAspect="1"/>
          </p:cNvPicPr>
          <p:nvPr/>
        </p:nvPicPr>
        <p:blipFill>
          <a:blip r:embed="rId8"/>
          <a:srcRect l="0" r="0" t="0" b="0"/>
          <a:stretch/>
        </p:blipFill>
        <p:spPr>
          <a:xfrm>
            <a:off x="6407150" y="2917031"/>
            <a:ext cx="203200" cy="203200"/>
          </a:xfrm>
          <a:prstGeom prst="rect">
            <a:avLst/>
          </a:prstGeom>
        </p:spPr>
      </p:pic>
      <p:sp>
        <p:nvSpPr>
          <p:cNvPr id="23" name="Text 13"/>
          <p:cNvSpPr/>
          <p:nvPr/>
        </p:nvSpPr>
        <p:spPr>
          <a:xfrm>
            <a:off x="6724650" y="2894211"/>
            <a:ext cx="421880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Share passwords, PINs or OTPs with anyone</a:t>
            </a:r>
            <a:endParaRPr lang="en-US" sz="1400" dirty="0"/>
          </a:p>
        </p:txBody>
      </p:sp>
      <p:pic>
        <p:nvPicPr>
          <p:cNvPr id="24" name="Image 8" descr="Warning">    </p:cNvPr>
          <p:cNvPicPr>
            <a:picLocks noChangeAspect="1"/>
          </p:cNvPicPr>
          <p:nvPr/>
        </p:nvPicPr>
        <p:blipFill>
          <a:blip r:embed="rId9"/>
          <a:srcRect l="0" r="0" t="0" b="0"/>
          <a:stretch/>
        </p:blipFill>
        <p:spPr>
          <a:xfrm>
            <a:off x="6407150" y="3292921"/>
            <a:ext cx="203200" cy="203200"/>
          </a:xfrm>
          <a:prstGeom prst="rect">
            <a:avLst/>
          </a:prstGeom>
        </p:spPr>
      </p:pic>
      <p:sp>
        <p:nvSpPr>
          <p:cNvPr id="25" name="Text 14"/>
          <p:cNvSpPr/>
          <p:nvPr/>
        </p:nvSpPr>
        <p:spPr>
          <a:xfrm>
            <a:off x="6724650" y="3270101"/>
            <a:ext cx="360366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Trust display names or caller ID alone</a:t>
            </a:r>
            <a:endParaRPr lang="en-US" sz="1400" dirty="0"/>
          </a:p>
        </p:txBody>
      </p:sp>
      <p:pic>
        <p:nvPicPr>
          <p:cNvPr id="26" name="Image 9" descr="Warning">    </p:cNvPr>
          <p:cNvPicPr>
            <a:picLocks noChangeAspect="1"/>
          </p:cNvPicPr>
          <p:nvPr/>
        </p:nvPicPr>
        <p:blipFill>
          <a:blip r:embed="rId10"/>
          <a:srcRect l="0" r="0" t="0" b="0"/>
          <a:stretch/>
        </p:blipFill>
        <p:spPr>
          <a:xfrm>
            <a:off x="6407150" y="3668812"/>
            <a:ext cx="203200" cy="203200"/>
          </a:xfrm>
          <a:prstGeom prst="rect">
            <a:avLst/>
          </a:prstGeom>
        </p:spPr>
      </p:pic>
      <p:sp>
        <p:nvSpPr>
          <p:cNvPr id="27" name="Text 15"/>
          <p:cNvSpPr/>
          <p:nvPr/>
        </p:nvSpPr>
        <p:spPr>
          <a:xfrm>
            <a:off x="6724650" y="3645991"/>
            <a:ext cx="331392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Log in from a link inside a message</a:t>
            </a:r>
            <a:endParaRPr lang="en-US" sz="1400" dirty="0"/>
          </a:p>
        </p:txBody>
      </p:sp>
      <p:pic>
        <p:nvPicPr>
          <p:cNvPr id="28" name="Image 10" descr="Warning">    </p:cNvPr>
          <p:cNvPicPr>
            <a:picLocks noChangeAspect="1"/>
          </p:cNvPicPr>
          <p:nvPr/>
        </p:nvPicPr>
        <p:blipFill>
          <a:blip r:embed="rId11"/>
          <a:srcRect l="0" r="0" t="0" b="0"/>
          <a:stretch/>
        </p:blipFill>
        <p:spPr>
          <a:xfrm>
            <a:off x="6407150" y="4044702"/>
            <a:ext cx="203200" cy="203200"/>
          </a:xfrm>
          <a:prstGeom prst="rect">
            <a:avLst/>
          </a:prstGeom>
        </p:spPr>
      </p:pic>
      <p:sp>
        <p:nvSpPr>
          <p:cNvPr id="29" name="Text 16"/>
          <p:cNvSpPr/>
          <p:nvPr/>
        </p:nvSpPr>
        <p:spPr>
          <a:xfrm>
            <a:off x="6724650" y="4021882"/>
            <a:ext cx="356848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Reuse one password across accounts</a:t>
            </a:r>
            <a:endParaRPr lang="en-US" sz="1400" dirty="0"/>
          </a:p>
        </p:txBody>
      </p:sp>
      <p:pic>
        <p:nvPicPr>
          <p:cNvPr id="30" name="Image 11" descr="Warning">    </p:cNvPr>
          <p:cNvPicPr>
            <a:picLocks noChangeAspect="1"/>
          </p:cNvPicPr>
          <p:nvPr/>
        </p:nvPicPr>
        <p:blipFill>
          <a:blip r:embed="rId12"/>
          <a:srcRect l="0" r="0" t="0" b="0"/>
          <a:stretch/>
        </p:blipFill>
        <p:spPr>
          <a:xfrm>
            <a:off x="6407150" y="4420592"/>
            <a:ext cx="203200" cy="203200"/>
          </a:xfrm>
          <a:prstGeom prst="rect">
            <a:avLst/>
          </a:prstGeom>
        </p:spPr>
      </p:pic>
      <p:sp>
        <p:nvSpPr>
          <p:cNvPr id="31" name="Text 17"/>
          <p:cNvSpPr/>
          <p:nvPr/>
        </p:nvSpPr>
        <p:spPr>
          <a:xfrm>
            <a:off x="6724650" y="4397772"/>
            <a:ext cx="307776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Hide a mistake. Report it quickly</a:t>
            </a:r>
            <a:endParaRPr lang="en-US" sz="1400" dirty="0"/>
          </a:p>
        </p:txBody>
      </p:sp>
      <p:sp>
        <p:nvSpPr>
          <p:cNvPr id="32" name="Text 1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Phishing Awareness Training</a:t>
            </a:r>
            <a:endParaRPr lang="en-US" sz="1200" dirty="0"/>
          </a:p>
        </p:txBody>
      </p:sp>
      <p:sp>
        <p:nvSpPr>
          <p:cNvPr id="33"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309"/>
                </a:solidFill>
                <a:latin typeface="IBM Plex Sans" pitchFamily="34" charset="0"/>
                <a:ea typeface="IBM Plex Sans" pitchFamily="34" charset="-122"/>
                <a:cs typeface="IBM Plex Sans" pitchFamily="34" charset="-120"/>
              </a:rPr>
              <a:t>BEST PRACTICES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01A2B"/>
                </a:solidFill>
                <a:latin typeface="Rubik" pitchFamily="34" charset="0"/>
                <a:ea typeface="Rubik" pitchFamily="34" charset="-122"/>
                <a:cs typeface="Rubik" pitchFamily="34" charset="-120"/>
              </a:rPr>
              <a:t>Clicked something? Act fast</a:t>
            </a:r>
            <a:endParaRPr lang="en-US" sz="3200" dirty="0"/>
          </a:p>
        </p:txBody>
      </p:sp>
      <p:sp>
        <p:nvSpPr>
          <p:cNvPr id="4" name="Shape 2"/>
          <p:cNvSpPr/>
          <p:nvPr/>
        </p:nvSpPr>
        <p:spPr>
          <a:xfrm>
            <a:off x="815975" y="1877616"/>
            <a:ext cx="2520950" cy="2005261"/>
          </a:xfrm>
          <a:prstGeom prst="roundRect">
            <a:avLst>
              <a:gd name="adj" fmla="val 4908"/>
            </a:avLst>
          </a:prstGeom>
          <a:solidFill>
            <a:srgbClr val="FFFFFF"/>
          </a:solidFill>
          <a:ln w="6350">
            <a:solidFill>
              <a:srgbClr val="DDE1DA"/>
            </a:solidFill>
            <a:prstDash val="solid"/>
          </a:ln>
        </p:spPr>
      </p:sp>
      <p:sp>
        <p:nvSpPr>
          <p:cNvPr id="5" name="Text 3"/>
          <p:cNvSpPr/>
          <p:nvPr/>
        </p:nvSpPr>
        <p:spPr>
          <a:xfrm>
            <a:off x="1022350" y="2083991"/>
            <a:ext cx="2171446"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7766F"/>
                </a:solidFill>
                <a:latin typeface="Rubik" pitchFamily="34" charset="0"/>
                <a:ea typeface="Rubik" pitchFamily="34" charset="-122"/>
                <a:cs typeface="Rubik" pitchFamily="34" charset="-120"/>
              </a:rPr>
              <a:t>1</a:t>
            </a:r>
            <a:endParaRPr lang="en-US" sz="3600" dirty="0"/>
          </a:p>
        </p:txBody>
      </p:sp>
      <p:sp>
        <p:nvSpPr>
          <p:cNvPr id="6" name="Text 4"/>
          <p:cNvSpPr/>
          <p:nvPr/>
        </p:nvSpPr>
        <p:spPr>
          <a:xfrm>
            <a:off x="1022350" y="2663081"/>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Disconnect</a:t>
            </a:r>
            <a:endParaRPr lang="en-US" sz="1600" dirty="0"/>
          </a:p>
        </p:txBody>
      </p:sp>
      <p:sp>
        <p:nvSpPr>
          <p:cNvPr id="7" name="Text 5"/>
          <p:cNvSpPr/>
          <p:nvPr/>
        </p:nvSpPr>
        <p:spPr>
          <a:xfrm>
            <a:off x="1022350" y="2983111"/>
            <a:ext cx="217144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Switch off Wi-Fi or unplug the network if you opened a file.</a:t>
            </a:r>
            <a:endParaRPr lang="en-US" sz="1300" dirty="0"/>
          </a:p>
        </p:txBody>
      </p:sp>
      <p:sp>
        <p:nvSpPr>
          <p:cNvPr id="8" name="Shape 6"/>
          <p:cNvSpPr/>
          <p:nvPr/>
        </p:nvSpPr>
        <p:spPr>
          <a:xfrm>
            <a:off x="3495675" y="1877616"/>
            <a:ext cx="2520950" cy="2005261"/>
          </a:xfrm>
          <a:prstGeom prst="roundRect">
            <a:avLst>
              <a:gd name="adj" fmla="val 4908"/>
            </a:avLst>
          </a:prstGeom>
          <a:solidFill>
            <a:srgbClr val="FFFFFF"/>
          </a:solidFill>
          <a:ln w="6350">
            <a:solidFill>
              <a:srgbClr val="DDE1DA"/>
            </a:solidFill>
            <a:prstDash val="solid"/>
          </a:ln>
        </p:spPr>
      </p:sp>
      <p:sp>
        <p:nvSpPr>
          <p:cNvPr id="9" name="Text 7"/>
          <p:cNvSpPr/>
          <p:nvPr/>
        </p:nvSpPr>
        <p:spPr>
          <a:xfrm>
            <a:off x="3702050" y="2083991"/>
            <a:ext cx="2171446"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7766F"/>
                </a:solidFill>
                <a:latin typeface="Rubik" pitchFamily="34" charset="0"/>
                <a:ea typeface="Rubik" pitchFamily="34" charset="-122"/>
                <a:cs typeface="Rubik" pitchFamily="34" charset="-120"/>
              </a:rPr>
              <a:t>2</a:t>
            </a:r>
            <a:endParaRPr lang="en-US" sz="3600" dirty="0"/>
          </a:p>
        </p:txBody>
      </p:sp>
      <p:sp>
        <p:nvSpPr>
          <p:cNvPr id="10" name="Text 8"/>
          <p:cNvSpPr/>
          <p:nvPr/>
        </p:nvSpPr>
        <p:spPr>
          <a:xfrm>
            <a:off x="3702050" y="2663081"/>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Change passwords</a:t>
            </a:r>
            <a:endParaRPr lang="en-US" sz="1600" dirty="0"/>
          </a:p>
        </p:txBody>
      </p:sp>
      <p:sp>
        <p:nvSpPr>
          <p:cNvPr id="11" name="Text 9"/>
          <p:cNvSpPr/>
          <p:nvPr/>
        </p:nvSpPr>
        <p:spPr>
          <a:xfrm>
            <a:off x="3702050" y="2983111"/>
            <a:ext cx="217144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Use a different, clean device. Start with email and banking.</a:t>
            </a:r>
            <a:endParaRPr lang="en-US" sz="1300" dirty="0"/>
          </a:p>
        </p:txBody>
      </p:sp>
      <p:sp>
        <p:nvSpPr>
          <p:cNvPr id="12" name="Shape 10"/>
          <p:cNvSpPr/>
          <p:nvPr/>
        </p:nvSpPr>
        <p:spPr>
          <a:xfrm>
            <a:off x="6175375" y="1877616"/>
            <a:ext cx="2520950" cy="2005261"/>
          </a:xfrm>
          <a:prstGeom prst="roundRect">
            <a:avLst>
              <a:gd name="adj" fmla="val 4908"/>
            </a:avLst>
          </a:prstGeom>
          <a:solidFill>
            <a:srgbClr val="FFFFFF"/>
          </a:solidFill>
          <a:ln w="6350">
            <a:solidFill>
              <a:srgbClr val="DDE1DA"/>
            </a:solidFill>
            <a:prstDash val="solid"/>
          </a:ln>
        </p:spPr>
      </p:sp>
      <p:sp>
        <p:nvSpPr>
          <p:cNvPr id="13" name="Text 11"/>
          <p:cNvSpPr/>
          <p:nvPr/>
        </p:nvSpPr>
        <p:spPr>
          <a:xfrm>
            <a:off x="6381750" y="2083991"/>
            <a:ext cx="2171446"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7766F"/>
                </a:solidFill>
                <a:latin typeface="Rubik" pitchFamily="34" charset="0"/>
                <a:ea typeface="Rubik" pitchFamily="34" charset="-122"/>
                <a:cs typeface="Rubik" pitchFamily="34" charset="-120"/>
              </a:rPr>
              <a:t>3</a:t>
            </a:r>
            <a:endParaRPr lang="en-US" sz="3600" dirty="0"/>
          </a:p>
        </p:txBody>
      </p:sp>
      <p:sp>
        <p:nvSpPr>
          <p:cNvPr id="14" name="Text 12"/>
          <p:cNvSpPr/>
          <p:nvPr/>
        </p:nvSpPr>
        <p:spPr>
          <a:xfrm>
            <a:off x="6381750" y="2663081"/>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Report it</a:t>
            </a:r>
            <a:endParaRPr lang="en-US" sz="1600" dirty="0"/>
          </a:p>
        </p:txBody>
      </p:sp>
      <p:sp>
        <p:nvSpPr>
          <p:cNvPr id="15" name="Text 13"/>
          <p:cNvSpPr/>
          <p:nvPr/>
        </p:nvSpPr>
        <p:spPr>
          <a:xfrm>
            <a:off x="6381750" y="2983111"/>
            <a:ext cx="21714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Tell IT or security, and your bank if money is involved.</a:t>
            </a:r>
            <a:endParaRPr lang="en-US" sz="1300" dirty="0"/>
          </a:p>
        </p:txBody>
      </p:sp>
      <p:sp>
        <p:nvSpPr>
          <p:cNvPr id="16" name="Shape 14"/>
          <p:cNvSpPr/>
          <p:nvPr/>
        </p:nvSpPr>
        <p:spPr>
          <a:xfrm>
            <a:off x="8855075" y="1877616"/>
            <a:ext cx="2520950" cy="2005261"/>
          </a:xfrm>
          <a:prstGeom prst="roundRect">
            <a:avLst>
              <a:gd name="adj" fmla="val 4908"/>
            </a:avLst>
          </a:prstGeom>
          <a:solidFill>
            <a:srgbClr val="FFFFFF"/>
          </a:solidFill>
          <a:ln w="6350">
            <a:solidFill>
              <a:srgbClr val="DDE1DA"/>
            </a:solidFill>
            <a:prstDash val="solid"/>
          </a:ln>
        </p:spPr>
      </p:sp>
      <p:sp>
        <p:nvSpPr>
          <p:cNvPr id="17" name="Text 15"/>
          <p:cNvSpPr/>
          <p:nvPr/>
        </p:nvSpPr>
        <p:spPr>
          <a:xfrm>
            <a:off x="9061450" y="2083991"/>
            <a:ext cx="2171446"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7766F"/>
                </a:solidFill>
                <a:latin typeface="Rubik" pitchFamily="34" charset="0"/>
                <a:ea typeface="Rubik" pitchFamily="34" charset="-122"/>
                <a:cs typeface="Rubik" pitchFamily="34" charset="-120"/>
              </a:rPr>
              <a:t>4</a:t>
            </a:r>
            <a:endParaRPr lang="en-US" sz="3600" dirty="0"/>
          </a:p>
        </p:txBody>
      </p:sp>
      <p:sp>
        <p:nvSpPr>
          <p:cNvPr id="18" name="Text 16"/>
          <p:cNvSpPr/>
          <p:nvPr/>
        </p:nvSpPr>
        <p:spPr>
          <a:xfrm>
            <a:off x="9061450" y="2663081"/>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1A2B"/>
                </a:solidFill>
                <a:latin typeface="IBM Plex Sans" pitchFamily="34" charset="0"/>
                <a:ea typeface="IBM Plex Sans" pitchFamily="34" charset="-122"/>
                <a:cs typeface="IBM Plex Sans" pitchFamily="34" charset="-120"/>
              </a:rPr>
              <a:t>Monitor</a:t>
            </a:r>
            <a:endParaRPr lang="en-US" sz="1600" dirty="0"/>
          </a:p>
        </p:txBody>
      </p:sp>
      <p:sp>
        <p:nvSpPr>
          <p:cNvPr id="19" name="Text 17"/>
          <p:cNvSpPr/>
          <p:nvPr/>
        </p:nvSpPr>
        <p:spPr>
          <a:xfrm>
            <a:off x="9061450" y="2983111"/>
            <a:ext cx="21714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Watch statements and sign-in alerts for unusual activity.</a:t>
            </a:r>
            <a:endParaRPr lang="en-US" sz="1300" dirty="0"/>
          </a:p>
        </p:txBody>
      </p:sp>
      <p:sp>
        <p:nvSpPr>
          <p:cNvPr id="20" name="Text 18"/>
          <p:cNvSpPr/>
          <p:nvPr/>
        </p:nvSpPr>
        <p:spPr>
          <a:xfrm>
            <a:off x="812800" y="4190851"/>
            <a:ext cx="10566400" cy="640060"/>
          </a:xfrm>
          <a:prstGeom prst="roundRect">
            <a:avLst>
              <a:gd name="adj" fmla="val 15874"/>
            </a:avLst>
          </a:prstGeom>
          <a:solidFill>
            <a:srgbClr val="101A2B"/>
          </a:solidFill>
          <a:ln/>
        </p:spPr>
        <p:txBody>
          <a:bodyPr wrap="square" lIns="198842" tIns="148042" rIns="0" bIns="122642" rtlCol="0" anchor="t">
            <a:normAutofit/>
          </a:bodyPr>
          <a:lstStyle/>
          <a:p>
            <a:pPr algn="l" indent="0" marL="0">
              <a:lnSpc>
                <a:spcPts val="2240"/>
              </a:lnSpc>
              <a:buNone/>
            </a:pPr>
            <a:r>
              <a:rPr lang="en-US" sz="1600" b="1" dirty="0">
                <a:solidFill>
                  <a:srgbClr val="F2A33A"/>
                </a:solidFill>
                <a:latin typeface="IBM Plex Sans" pitchFamily="34" charset="0"/>
                <a:ea typeface="IBM Plex Sans" pitchFamily="34" charset="-122"/>
                <a:cs typeface="IBM Plex Sans" pitchFamily="34" charset="-120"/>
              </a:rPr>
              <a:t>Speed matters:</a:t>
            </a:r>
            <a:r>
              <a:rPr lang="en-US" sz="1600" dirty="0">
                <a:solidFill>
                  <a:srgbClr val="F5F6F2"/>
                </a:solidFill>
                <a:latin typeface="IBM Plex Sans" pitchFamily="34" charset="0"/>
                <a:ea typeface="IBM Plex Sans" pitchFamily="34" charset="-122"/>
                <a:cs typeface="IBM Plex Sans" pitchFamily="34" charset="-120"/>
              </a:rPr>
              <a:t> reporting within minutes limits the damage. Nobody is punished for reporting honestly.</a:t>
            </a:r>
            <a:endParaRPr lang="en-US" sz="1600" dirty="0"/>
          </a:p>
        </p:txBody>
      </p:sp>
      <p:sp>
        <p:nvSpPr>
          <p:cNvPr id="21" name="Text 1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Phishing Awareness Training</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1A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3A"/>
                </a:solidFill>
                <a:latin typeface="IBM Plex Sans" pitchFamily="34" charset="0"/>
                <a:ea typeface="IBM Plex Sans" pitchFamily="34" charset="-122"/>
                <a:cs typeface="IBM Plex Sans" pitchFamily="34" charset="-120"/>
              </a:rPr>
              <a:t>QUIZ 1 OF 4</a:t>
            </a:r>
            <a:endParaRPr lang="en-US" sz="1200" dirty="0"/>
          </a:p>
        </p:txBody>
      </p:sp>
      <p:sp>
        <p:nvSpPr>
          <p:cNvPr id="3" name="Text 1"/>
          <p:cNvSpPr/>
          <p:nvPr>
            <p:ph type="title"/>
          </p:nvPr>
        </p:nvSpPr>
        <p:spPr>
          <a:xfrm>
            <a:off x="812800" y="1102320"/>
            <a:ext cx="10883392" cy="78482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F5F6F2"/>
                </a:solidFill>
                <a:latin typeface="Rubik" pitchFamily="34" charset="0"/>
                <a:ea typeface="Rubik" pitchFamily="34" charset="-122"/>
                <a:cs typeface="Rubik" pitchFamily="34" charset="-120"/>
              </a:rPr>
              <a:t>An email says your account will be locked in 2 hours unless you click “Verify now”. What do you do?</a:t>
            </a:r>
            <a:endParaRPr lang="en-US" sz="2600" dirty="0"/>
          </a:p>
        </p:txBody>
      </p:sp>
      <p:sp>
        <p:nvSpPr>
          <p:cNvPr id="4" name="Shape 2"/>
          <p:cNvSpPr/>
          <p:nvPr/>
        </p:nvSpPr>
        <p:spPr>
          <a:xfrm>
            <a:off x="815975" y="2093516"/>
            <a:ext cx="10560050" cy="565150"/>
          </a:xfrm>
          <a:prstGeom prst="roundRect">
            <a:avLst>
              <a:gd name="adj" fmla="val 15169"/>
            </a:avLst>
          </a:prstGeom>
          <a:solidFill>
            <a:srgbClr val="1B2A44"/>
          </a:solidFill>
          <a:ln w="6350">
            <a:solidFill>
              <a:srgbClr val="2B3D5E"/>
            </a:solidFill>
            <a:prstDash val="solid"/>
          </a:ln>
        </p:spPr>
      </p:sp>
      <p:sp>
        <p:nvSpPr>
          <p:cNvPr id="5" name="Text 3"/>
          <p:cNvSpPr/>
          <p:nvPr/>
        </p:nvSpPr>
        <p:spPr>
          <a:xfrm>
            <a:off x="996950" y="2210991"/>
            <a:ext cx="330200" cy="330200"/>
          </a:xfrm>
          <a:prstGeom prst="roundRect">
            <a:avLst>
              <a:gd name="adj" fmla="val 50000"/>
            </a:avLst>
          </a:prstGeom>
          <a:solidFill>
            <a:srgbClr val="F2A33A"/>
          </a:solidFill>
          <a:ln/>
        </p:spPr>
        <p:txBody>
          <a:bodyPr wrap="square" lIns="0" tIns="0" rIns="0" bIns="0" rtlCol="0" anchor="ctr">
            <a:normAutofit/>
          </a:bodyPr>
          <a:lstStyle/>
          <a:p>
            <a:pPr algn="ctr" indent="0" marL="0">
              <a:lnSpc>
                <a:spcPts val="1400"/>
              </a:lnSpc>
              <a:buNone/>
            </a:pPr>
            <a:r>
              <a:rPr lang="en-US" sz="1400" b="1" dirty="0">
                <a:solidFill>
                  <a:srgbClr val="101A2B"/>
                </a:solidFill>
                <a:latin typeface="IBM Plex Sans" pitchFamily="34" charset="0"/>
                <a:ea typeface="IBM Plex Sans" pitchFamily="34" charset="-122"/>
                <a:cs typeface="IBM Plex Sans" pitchFamily="34" charset="-120"/>
              </a:rPr>
              <a:t>A</a:t>
            </a:r>
            <a:endParaRPr lang="en-US" sz="1400" dirty="0"/>
          </a:p>
        </p:txBody>
      </p:sp>
      <p:sp>
        <p:nvSpPr>
          <p:cNvPr id="6" name="Text 4"/>
          <p:cNvSpPr/>
          <p:nvPr/>
        </p:nvSpPr>
        <p:spPr>
          <a:xfrm>
            <a:off x="1479550" y="2242741"/>
            <a:ext cx="421814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6F2"/>
                </a:solidFill>
                <a:latin typeface="IBM Plex Sans" pitchFamily="34" charset="0"/>
                <a:ea typeface="IBM Plex Sans" pitchFamily="34" charset="-122"/>
                <a:cs typeface="IBM Plex Sans" pitchFamily="34" charset="-120"/>
              </a:rPr>
              <a:t>Click quickly before the account is locked</a:t>
            </a:r>
            <a:endParaRPr lang="en-US" sz="1500" dirty="0"/>
          </a:p>
        </p:txBody>
      </p:sp>
      <p:sp>
        <p:nvSpPr>
          <p:cNvPr id="7" name="Shape 5"/>
          <p:cNvSpPr/>
          <p:nvPr/>
        </p:nvSpPr>
        <p:spPr>
          <a:xfrm>
            <a:off x="815975" y="2766616"/>
            <a:ext cx="10560050" cy="565150"/>
          </a:xfrm>
          <a:prstGeom prst="roundRect">
            <a:avLst>
              <a:gd name="adj" fmla="val 15169"/>
            </a:avLst>
          </a:prstGeom>
          <a:solidFill>
            <a:srgbClr val="1B2A44"/>
          </a:solidFill>
          <a:ln w="6350">
            <a:solidFill>
              <a:srgbClr val="2B3D5E"/>
            </a:solidFill>
            <a:prstDash val="solid"/>
          </a:ln>
        </p:spPr>
      </p:sp>
      <p:sp>
        <p:nvSpPr>
          <p:cNvPr id="8" name="Text 6"/>
          <p:cNvSpPr/>
          <p:nvPr/>
        </p:nvSpPr>
        <p:spPr>
          <a:xfrm>
            <a:off x="996950" y="2884091"/>
            <a:ext cx="330200" cy="330200"/>
          </a:xfrm>
          <a:prstGeom prst="roundRect">
            <a:avLst>
              <a:gd name="adj" fmla="val 50000"/>
            </a:avLst>
          </a:prstGeom>
          <a:solidFill>
            <a:srgbClr val="F2A33A"/>
          </a:solidFill>
          <a:ln/>
        </p:spPr>
        <p:txBody>
          <a:bodyPr wrap="square" lIns="0" tIns="0" rIns="0" bIns="0" rtlCol="0" anchor="ctr">
            <a:normAutofit/>
          </a:bodyPr>
          <a:lstStyle/>
          <a:p>
            <a:pPr algn="ctr" indent="0" marL="0">
              <a:lnSpc>
                <a:spcPts val="1400"/>
              </a:lnSpc>
              <a:buNone/>
            </a:pPr>
            <a:r>
              <a:rPr lang="en-US" sz="1400" b="1" dirty="0">
                <a:solidFill>
                  <a:srgbClr val="101A2B"/>
                </a:solidFill>
                <a:latin typeface="IBM Plex Sans" pitchFamily="34" charset="0"/>
                <a:ea typeface="IBM Plex Sans" pitchFamily="34" charset="-122"/>
                <a:cs typeface="IBM Plex Sans" pitchFamily="34" charset="-120"/>
              </a:rPr>
              <a:t>B</a:t>
            </a:r>
            <a:endParaRPr lang="en-US" sz="1400" dirty="0"/>
          </a:p>
        </p:txBody>
      </p:sp>
      <p:sp>
        <p:nvSpPr>
          <p:cNvPr id="9" name="Text 7"/>
          <p:cNvSpPr/>
          <p:nvPr/>
        </p:nvSpPr>
        <p:spPr>
          <a:xfrm>
            <a:off x="1479550" y="2915841"/>
            <a:ext cx="416236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6F2"/>
                </a:solidFill>
                <a:latin typeface="IBM Plex Sans" pitchFamily="34" charset="0"/>
                <a:ea typeface="IBM Plex Sans" pitchFamily="34" charset="-122"/>
                <a:cs typeface="IBM Plex Sans" pitchFamily="34" charset="-120"/>
              </a:rPr>
              <a:t>Reply to the email and ask if it is genuine</a:t>
            </a:r>
            <a:endParaRPr lang="en-US" sz="1500" dirty="0"/>
          </a:p>
        </p:txBody>
      </p:sp>
      <p:sp>
        <p:nvSpPr>
          <p:cNvPr id="10" name="Shape 8"/>
          <p:cNvSpPr/>
          <p:nvPr/>
        </p:nvSpPr>
        <p:spPr>
          <a:xfrm>
            <a:off x="815975" y="3439716"/>
            <a:ext cx="10560050" cy="565150"/>
          </a:xfrm>
          <a:prstGeom prst="roundRect">
            <a:avLst>
              <a:gd name="adj" fmla="val 15169"/>
            </a:avLst>
          </a:prstGeom>
          <a:solidFill>
            <a:srgbClr val="1B2A44"/>
          </a:solidFill>
          <a:ln w="6350">
            <a:solidFill>
              <a:srgbClr val="2B3D5E"/>
            </a:solidFill>
            <a:prstDash val="solid"/>
          </a:ln>
        </p:spPr>
      </p:sp>
      <p:sp>
        <p:nvSpPr>
          <p:cNvPr id="11" name="Text 9"/>
          <p:cNvSpPr/>
          <p:nvPr/>
        </p:nvSpPr>
        <p:spPr>
          <a:xfrm>
            <a:off x="996950" y="3557191"/>
            <a:ext cx="330200" cy="330200"/>
          </a:xfrm>
          <a:prstGeom prst="roundRect">
            <a:avLst>
              <a:gd name="adj" fmla="val 50000"/>
            </a:avLst>
          </a:prstGeom>
          <a:solidFill>
            <a:srgbClr val="F2A33A"/>
          </a:solidFill>
          <a:ln/>
        </p:spPr>
        <p:txBody>
          <a:bodyPr wrap="square" lIns="0" tIns="0" rIns="0" bIns="0" rtlCol="0" anchor="ctr">
            <a:normAutofit/>
          </a:bodyPr>
          <a:lstStyle/>
          <a:p>
            <a:pPr algn="ctr" indent="0" marL="0">
              <a:lnSpc>
                <a:spcPts val="1400"/>
              </a:lnSpc>
              <a:buNone/>
            </a:pPr>
            <a:r>
              <a:rPr lang="en-US" sz="1400" b="1" dirty="0">
                <a:solidFill>
                  <a:srgbClr val="101A2B"/>
                </a:solidFill>
                <a:latin typeface="IBM Plex Sans" pitchFamily="34" charset="0"/>
                <a:ea typeface="IBM Plex Sans" pitchFamily="34" charset="-122"/>
                <a:cs typeface="IBM Plex Sans" pitchFamily="34" charset="-120"/>
              </a:rPr>
              <a:t>C</a:t>
            </a:r>
            <a:endParaRPr lang="en-US" sz="1400" dirty="0"/>
          </a:p>
        </p:txBody>
      </p:sp>
      <p:sp>
        <p:nvSpPr>
          <p:cNvPr id="12" name="Text 10"/>
          <p:cNvSpPr/>
          <p:nvPr/>
        </p:nvSpPr>
        <p:spPr>
          <a:xfrm>
            <a:off x="1479550" y="3588941"/>
            <a:ext cx="598616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6F2"/>
                </a:solidFill>
                <a:latin typeface="IBM Plex Sans" pitchFamily="34" charset="0"/>
                <a:ea typeface="IBM Plex Sans" pitchFamily="34" charset="-122"/>
                <a:cs typeface="IBM Plex Sans" pitchFamily="34" charset="-120"/>
              </a:rPr>
              <a:t>Do not click. Open the official site yourself, or call the bank</a:t>
            </a:r>
            <a:endParaRPr lang="en-US" sz="1500" dirty="0"/>
          </a:p>
        </p:txBody>
      </p:sp>
      <p:sp>
        <p:nvSpPr>
          <p:cNvPr id="13" name="Shape 11"/>
          <p:cNvSpPr/>
          <p:nvPr/>
        </p:nvSpPr>
        <p:spPr>
          <a:xfrm>
            <a:off x="812800" y="4749800"/>
            <a:ext cx="10566400" cy="1143000"/>
          </a:xfrm>
          <a:prstGeom prst="roundRect">
            <a:avLst>
              <a:gd name="adj" fmla="val 8889"/>
            </a:avLst>
          </a:prstGeom>
          <a:solidFill>
            <a:srgbClr val="5CC8BE"/>
          </a:solidFill>
          <a:ln/>
        </p:spPr>
      </p:sp>
      <p:sp>
        <p:nvSpPr>
          <p:cNvPr id="14" name="Text 12"/>
          <p:cNvSpPr/>
          <p:nvPr/>
        </p:nvSpPr>
        <p:spPr>
          <a:xfrm>
            <a:off x="1066800" y="5031730"/>
            <a:ext cx="10360152"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01A2B"/>
                </a:solidFill>
                <a:latin typeface="Rubik" pitchFamily="34" charset="0"/>
                <a:ea typeface="Rubik" pitchFamily="34" charset="-122"/>
                <a:cs typeface="Rubik" pitchFamily="34" charset="-120"/>
              </a:rPr>
              <a:t>Answer: C</a:t>
            </a:r>
            <a:endParaRPr lang="en-US" sz="2000" dirty="0"/>
          </a:p>
        </p:txBody>
      </p:sp>
      <p:sp>
        <p:nvSpPr>
          <p:cNvPr id="15" name="Text 13"/>
          <p:cNvSpPr/>
          <p:nvPr/>
        </p:nvSpPr>
        <p:spPr>
          <a:xfrm>
            <a:off x="1066800" y="5361930"/>
            <a:ext cx="1036015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Urgency is a classic trick. Go to the real site through your own bookmark or app, and report the email.</a:t>
            </a:r>
            <a:endParaRPr lang="en-US" sz="1400" dirty="0"/>
          </a:p>
        </p:txBody>
      </p:sp>
      <p:sp>
        <p:nvSpPr>
          <p:cNvPr id="16" name="Text 1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C"/>
                </a:solidFill>
                <a:latin typeface="IBM Plex Sans" pitchFamily="34" charset="0"/>
                <a:ea typeface="IBM Plex Sans" pitchFamily="34" charset="-122"/>
                <a:cs typeface="IBM Plex Sans" pitchFamily="34" charset="-120"/>
              </a:rPr>
              <a:t>Phishing Awareness Training</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7BC"/>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A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3A"/>
                </a:solidFill>
                <a:latin typeface="IBM Plex Sans" pitchFamily="34" charset="0"/>
                <a:ea typeface="IBM Plex Sans" pitchFamily="34" charset="-122"/>
                <a:cs typeface="IBM Plex Sans" pitchFamily="34" charset="-120"/>
              </a:rPr>
              <a:t>QUIZ 2 OF 4</a:t>
            </a:r>
            <a:endParaRPr lang="en-US" sz="1200" dirty="0"/>
          </a:p>
        </p:txBody>
      </p:sp>
      <p:sp>
        <p:nvSpPr>
          <p:cNvPr id="3" name="Text 1"/>
          <p:cNvSpPr/>
          <p:nvPr>
            <p:ph type="title"/>
          </p:nvPr>
        </p:nvSpPr>
        <p:spPr>
          <a:xfrm>
            <a:off x="812800" y="110232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F5F6F2"/>
                </a:solidFill>
                <a:latin typeface="Rubik" pitchFamily="34" charset="0"/>
                <a:ea typeface="Rubik" pitchFamily="34" charset="-122"/>
                <a:cs typeface="Rubik" pitchFamily="34" charset="-120"/>
              </a:rPr>
              <a:t>Which of these is the real PayPal login address?</a:t>
            </a:r>
            <a:endParaRPr lang="en-US" sz="2600" dirty="0"/>
          </a:p>
        </p:txBody>
      </p:sp>
      <p:sp>
        <p:nvSpPr>
          <p:cNvPr id="4" name="Shape 2"/>
          <p:cNvSpPr/>
          <p:nvPr/>
        </p:nvSpPr>
        <p:spPr>
          <a:xfrm>
            <a:off x="815975" y="1713805"/>
            <a:ext cx="10560050" cy="514350"/>
          </a:xfrm>
          <a:prstGeom prst="roundRect">
            <a:avLst>
              <a:gd name="adj" fmla="val 16667"/>
            </a:avLst>
          </a:prstGeom>
          <a:solidFill>
            <a:srgbClr val="1B2A44"/>
          </a:solidFill>
          <a:ln w="6350">
            <a:solidFill>
              <a:srgbClr val="2B3D5E"/>
            </a:solidFill>
            <a:prstDash val="solid"/>
          </a:ln>
        </p:spPr>
      </p:sp>
      <p:sp>
        <p:nvSpPr>
          <p:cNvPr id="5" name="Text 3"/>
          <p:cNvSpPr/>
          <p:nvPr/>
        </p:nvSpPr>
        <p:spPr>
          <a:xfrm>
            <a:off x="996950" y="1805880"/>
            <a:ext cx="330200" cy="330200"/>
          </a:xfrm>
          <a:prstGeom prst="roundRect">
            <a:avLst>
              <a:gd name="adj" fmla="val 50000"/>
            </a:avLst>
          </a:prstGeom>
          <a:solidFill>
            <a:srgbClr val="F2A33A"/>
          </a:solidFill>
          <a:ln/>
        </p:spPr>
        <p:txBody>
          <a:bodyPr wrap="square" lIns="0" tIns="0" rIns="0" bIns="0" rtlCol="0" anchor="ctr">
            <a:normAutofit/>
          </a:bodyPr>
          <a:lstStyle/>
          <a:p>
            <a:pPr algn="ctr" indent="0" marL="0">
              <a:lnSpc>
                <a:spcPts val="1400"/>
              </a:lnSpc>
              <a:buNone/>
            </a:pPr>
            <a:r>
              <a:rPr lang="en-US" sz="1400" b="1" dirty="0">
                <a:solidFill>
                  <a:srgbClr val="101A2B"/>
                </a:solidFill>
                <a:latin typeface="IBM Plex Sans" pitchFamily="34" charset="0"/>
                <a:ea typeface="IBM Plex Sans" pitchFamily="34" charset="-122"/>
                <a:cs typeface="IBM Plex Sans" pitchFamily="34" charset="-120"/>
              </a:rPr>
              <a:t>A</a:t>
            </a:r>
            <a:endParaRPr lang="en-US" sz="1400" dirty="0"/>
          </a:p>
        </p:txBody>
      </p:sp>
      <p:sp>
        <p:nvSpPr>
          <p:cNvPr id="6" name="Text 4"/>
          <p:cNvSpPr/>
          <p:nvPr/>
        </p:nvSpPr>
        <p:spPr>
          <a:xfrm>
            <a:off x="1479550" y="1837630"/>
            <a:ext cx="321004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6F2"/>
                </a:solidFill>
                <a:latin typeface="IBM Plex Sans" pitchFamily="34" charset="0"/>
                <a:ea typeface="IBM Plex Sans" pitchFamily="34" charset="-122"/>
                <a:cs typeface="IBM Plex Sans" pitchFamily="34" charset="-120"/>
              </a:rPr>
              <a:t>https://www.paypal.com/signin</a:t>
            </a:r>
            <a:endParaRPr lang="en-US" sz="1500" dirty="0"/>
          </a:p>
        </p:txBody>
      </p:sp>
      <p:sp>
        <p:nvSpPr>
          <p:cNvPr id="7" name="Shape 5"/>
          <p:cNvSpPr/>
          <p:nvPr/>
        </p:nvSpPr>
        <p:spPr>
          <a:xfrm>
            <a:off x="815975" y="2323405"/>
            <a:ext cx="10560050" cy="514350"/>
          </a:xfrm>
          <a:prstGeom prst="roundRect">
            <a:avLst>
              <a:gd name="adj" fmla="val 16667"/>
            </a:avLst>
          </a:prstGeom>
          <a:solidFill>
            <a:srgbClr val="1B2A44"/>
          </a:solidFill>
          <a:ln w="6350">
            <a:solidFill>
              <a:srgbClr val="2B3D5E"/>
            </a:solidFill>
            <a:prstDash val="solid"/>
          </a:ln>
        </p:spPr>
      </p:sp>
      <p:sp>
        <p:nvSpPr>
          <p:cNvPr id="8" name="Text 6"/>
          <p:cNvSpPr/>
          <p:nvPr/>
        </p:nvSpPr>
        <p:spPr>
          <a:xfrm>
            <a:off x="996950" y="2415480"/>
            <a:ext cx="330200" cy="330200"/>
          </a:xfrm>
          <a:prstGeom prst="roundRect">
            <a:avLst>
              <a:gd name="adj" fmla="val 50000"/>
            </a:avLst>
          </a:prstGeom>
          <a:solidFill>
            <a:srgbClr val="F2A33A"/>
          </a:solidFill>
          <a:ln/>
        </p:spPr>
        <p:txBody>
          <a:bodyPr wrap="square" lIns="0" tIns="0" rIns="0" bIns="0" rtlCol="0" anchor="ctr">
            <a:normAutofit/>
          </a:bodyPr>
          <a:lstStyle/>
          <a:p>
            <a:pPr algn="ctr" indent="0" marL="0">
              <a:lnSpc>
                <a:spcPts val="1400"/>
              </a:lnSpc>
              <a:buNone/>
            </a:pPr>
            <a:r>
              <a:rPr lang="en-US" sz="1400" b="1" dirty="0">
                <a:solidFill>
                  <a:srgbClr val="101A2B"/>
                </a:solidFill>
                <a:latin typeface="IBM Plex Sans" pitchFamily="34" charset="0"/>
                <a:ea typeface="IBM Plex Sans" pitchFamily="34" charset="-122"/>
                <a:cs typeface="IBM Plex Sans" pitchFamily="34" charset="-120"/>
              </a:rPr>
              <a:t>B</a:t>
            </a:r>
            <a:endParaRPr lang="en-US" sz="1400" dirty="0"/>
          </a:p>
        </p:txBody>
      </p:sp>
      <p:sp>
        <p:nvSpPr>
          <p:cNvPr id="9" name="Text 7"/>
          <p:cNvSpPr/>
          <p:nvPr/>
        </p:nvSpPr>
        <p:spPr>
          <a:xfrm>
            <a:off x="1479550" y="2447230"/>
            <a:ext cx="436923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6F2"/>
                </a:solidFill>
                <a:latin typeface="IBM Plex Sans" pitchFamily="34" charset="0"/>
                <a:ea typeface="IBM Plex Sans" pitchFamily="34" charset="-122"/>
                <a:cs typeface="IBM Plex Sans" pitchFamily="34" charset="-120"/>
              </a:rPr>
              <a:t>https://paypal.com.secure-login.net/signin</a:t>
            </a:r>
            <a:endParaRPr lang="en-US" sz="1500" dirty="0"/>
          </a:p>
        </p:txBody>
      </p:sp>
      <p:sp>
        <p:nvSpPr>
          <p:cNvPr id="10" name="Shape 8"/>
          <p:cNvSpPr/>
          <p:nvPr/>
        </p:nvSpPr>
        <p:spPr>
          <a:xfrm>
            <a:off x="815975" y="2933005"/>
            <a:ext cx="10560050" cy="514350"/>
          </a:xfrm>
          <a:prstGeom prst="roundRect">
            <a:avLst>
              <a:gd name="adj" fmla="val 16667"/>
            </a:avLst>
          </a:prstGeom>
          <a:solidFill>
            <a:srgbClr val="1B2A44"/>
          </a:solidFill>
          <a:ln w="6350">
            <a:solidFill>
              <a:srgbClr val="2B3D5E"/>
            </a:solidFill>
            <a:prstDash val="solid"/>
          </a:ln>
        </p:spPr>
      </p:sp>
      <p:sp>
        <p:nvSpPr>
          <p:cNvPr id="11" name="Text 9"/>
          <p:cNvSpPr/>
          <p:nvPr/>
        </p:nvSpPr>
        <p:spPr>
          <a:xfrm>
            <a:off x="996950" y="3025080"/>
            <a:ext cx="330200" cy="330200"/>
          </a:xfrm>
          <a:prstGeom prst="roundRect">
            <a:avLst>
              <a:gd name="adj" fmla="val 50000"/>
            </a:avLst>
          </a:prstGeom>
          <a:solidFill>
            <a:srgbClr val="F2A33A"/>
          </a:solidFill>
          <a:ln/>
        </p:spPr>
        <p:txBody>
          <a:bodyPr wrap="square" lIns="0" tIns="0" rIns="0" bIns="0" rtlCol="0" anchor="ctr">
            <a:normAutofit/>
          </a:bodyPr>
          <a:lstStyle/>
          <a:p>
            <a:pPr algn="ctr" indent="0" marL="0">
              <a:lnSpc>
                <a:spcPts val="1400"/>
              </a:lnSpc>
              <a:buNone/>
            </a:pPr>
            <a:r>
              <a:rPr lang="en-US" sz="1400" b="1" dirty="0">
                <a:solidFill>
                  <a:srgbClr val="101A2B"/>
                </a:solidFill>
                <a:latin typeface="IBM Plex Sans" pitchFamily="34" charset="0"/>
                <a:ea typeface="IBM Plex Sans" pitchFamily="34" charset="-122"/>
                <a:cs typeface="IBM Plex Sans" pitchFamily="34" charset="-120"/>
              </a:rPr>
              <a:t>C</a:t>
            </a:r>
            <a:endParaRPr lang="en-US" sz="1400" dirty="0"/>
          </a:p>
        </p:txBody>
      </p:sp>
      <p:sp>
        <p:nvSpPr>
          <p:cNvPr id="12" name="Text 10"/>
          <p:cNvSpPr/>
          <p:nvPr/>
        </p:nvSpPr>
        <p:spPr>
          <a:xfrm>
            <a:off x="1479550" y="3056830"/>
            <a:ext cx="328273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6F2"/>
                </a:solidFill>
                <a:latin typeface="IBM Plex Sans" pitchFamily="34" charset="0"/>
                <a:ea typeface="IBM Plex Sans" pitchFamily="34" charset="-122"/>
                <a:cs typeface="IBM Plex Sans" pitchFamily="34" charset="-120"/>
              </a:rPr>
              <a:t>https://www.paypa1.com/signin</a:t>
            </a:r>
            <a:endParaRPr lang="en-US" sz="1500" dirty="0"/>
          </a:p>
        </p:txBody>
      </p:sp>
      <p:sp>
        <p:nvSpPr>
          <p:cNvPr id="13" name="Shape 11"/>
          <p:cNvSpPr/>
          <p:nvPr/>
        </p:nvSpPr>
        <p:spPr>
          <a:xfrm>
            <a:off x="815975" y="3542605"/>
            <a:ext cx="10560050" cy="514350"/>
          </a:xfrm>
          <a:prstGeom prst="roundRect">
            <a:avLst>
              <a:gd name="adj" fmla="val 16667"/>
            </a:avLst>
          </a:prstGeom>
          <a:solidFill>
            <a:srgbClr val="1B2A44"/>
          </a:solidFill>
          <a:ln w="6350">
            <a:solidFill>
              <a:srgbClr val="2B3D5E"/>
            </a:solidFill>
            <a:prstDash val="solid"/>
          </a:ln>
        </p:spPr>
      </p:sp>
      <p:sp>
        <p:nvSpPr>
          <p:cNvPr id="14" name="Text 12"/>
          <p:cNvSpPr/>
          <p:nvPr/>
        </p:nvSpPr>
        <p:spPr>
          <a:xfrm>
            <a:off x="996950" y="3634680"/>
            <a:ext cx="330200" cy="330200"/>
          </a:xfrm>
          <a:prstGeom prst="roundRect">
            <a:avLst>
              <a:gd name="adj" fmla="val 50000"/>
            </a:avLst>
          </a:prstGeom>
          <a:solidFill>
            <a:srgbClr val="F2A33A"/>
          </a:solidFill>
          <a:ln/>
        </p:spPr>
        <p:txBody>
          <a:bodyPr wrap="square" lIns="0" tIns="0" rIns="0" bIns="0" rtlCol="0" anchor="ctr">
            <a:normAutofit/>
          </a:bodyPr>
          <a:lstStyle/>
          <a:p>
            <a:pPr algn="ctr" indent="0" marL="0">
              <a:lnSpc>
                <a:spcPts val="1400"/>
              </a:lnSpc>
              <a:buNone/>
            </a:pPr>
            <a:r>
              <a:rPr lang="en-US" sz="1400" b="1" dirty="0">
                <a:solidFill>
                  <a:srgbClr val="101A2B"/>
                </a:solidFill>
                <a:latin typeface="IBM Plex Sans" pitchFamily="34" charset="0"/>
                <a:ea typeface="IBM Plex Sans" pitchFamily="34" charset="-122"/>
                <a:cs typeface="IBM Plex Sans" pitchFamily="34" charset="-120"/>
              </a:rPr>
              <a:t>D</a:t>
            </a:r>
            <a:endParaRPr lang="en-US" sz="1400" dirty="0"/>
          </a:p>
        </p:txBody>
      </p:sp>
      <p:sp>
        <p:nvSpPr>
          <p:cNvPr id="15" name="Text 13"/>
          <p:cNvSpPr/>
          <p:nvPr/>
        </p:nvSpPr>
        <p:spPr>
          <a:xfrm>
            <a:off x="1479550" y="3666430"/>
            <a:ext cx="393811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6F2"/>
                </a:solidFill>
                <a:latin typeface="IBM Plex Sans" pitchFamily="34" charset="0"/>
                <a:ea typeface="IBM Plex Sans" pitchFamily="34" charset="-122"/>
                <a:cs typeface="IBM Plex Sans" pitchFamily="34" charset="-120"/>
              </a:rPr>
              <a:t>https://paypal-support-help.com/login</a:t>
            </a:r>
            <a:endParaRPr lang="en-US" sz="1500" dirty="0"/>
          </a:p>
        </p:txBody>
      </p:sp>
      <p:sp>
        <p:nvSpPr>
          <p:cNvPr id="16" name="Shape 14"/>
          <p:cNvSpPr/>
          <p:nvPr/>
        </p:nvSpPr>
        <p:spPr>
          <a:xfrm>
            <a:off x="812800" y="4749800"/>
            <a:ext cx="10566400" cy="1143000"/>
          </a:xfrm>
          <a:prstGeom prst="roundRect">
            <a:avLst>
              <a:gd name="adj" fmla="val 8889"/>
            </a:avLst>
          </a:prstGeom>
          <a:solidFill>
            <a:srgbClr val="5CC8BE"/>
          </a:solidFill>
          <a:ln/>
        </p:spPr>
      </p:sp>
      <p:sp>
        <p:nvSpPr>
          <p:cNvPr id="17" name="Text 15"/>
          <p:cNvSpPr/>
          <p:nvPr/>
        </p:nvSpPr>
        <p:spPr>
          <a:xfrm>
            <a:off x="1066800" y="4907310"/>
            <a:ext cx="10360152"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01A2B"/>
                </a:solidFill>
                <a:latin typeface="Rubik" pitchFamily="34" charset="0"/>
                <a:ea typeface="Rubik" pitchFamily="34" charset="-122"/>
                <a:cs typeface="Rubik" pitchFamily="34" charset="-120"/>
              </a:rPr>
              <a:t>Answer: A</a:t>
            </a:r>
            <a:endParaRPr lang="en-US" sz="2000" dirty="0"/>
          </a:p>
        </p:txBody>
      </p:sp>
      <p:sp>
        <p:nvSpPr>
          <p:cNvPr id="18" name="Text 16"/>
          <p:cNvSpPr/>
          <p:nvPr/>
        </p:nvSpPr>
        <p:spPr>
          <a:xfrm>
            <a:off x="1066800" y="5237510"/>
            <a:ext cx="1036015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Only A ends in the real owner’s name, paypal.com. B hides secure-login.net, C swaps the letter l for a 1, and D adds extra words.</a:t>
            </a:r>
            <a:endParaRPr lang="en-US" sz="1400" dirty="0"/>
          </a:p>
        </p:txBody>
      </p:sp>
      <p:sp>
        <p:nvSpPr>
          <p:cNvPr id="19" name="Text 1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C"/>
                </a:solidFill>
                <a:latin typeface="IBM Plex Sans" pitchFamily="34" charset="0"/>
                <a:ea typeface="IBM Plex Sans" pitchFamily="34" charset="-122"/>
                <a:cs typeface="IBM Plex Sans" pitchFamily="34" charset="-120"/>
              </a:rPr>
              <a:t>Phishing Awareness Training</a:t>
            </a:r>
            <a:endParaRPr lang="en-US" sz="1200" dirty="0"/>
          </a:p>
        </p:txBody>
      </p:sp>
      <p:sp>
        <p:nvSpPr>
          <p:cNvPr id="20"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7BC"/>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1A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3A"/>
                </a:solidFill>
                <a:latin typeface="IBM Plex Sans" pitchFamily="34" charset="0"/>
                <a:ea typeface="IBM Plex Sans" pitchFamily="34" charset="-122"/>
                <a:cs typeface="IBM Plex Sans" pitchFamily="34" charset="-120"/>
              </a:rPr>
              <a:t>QUIZ 3 OF 4</a:t>
            </a:r>
            <a:endParaRPr lang="en-US" sz="1200" dirty="0"/>
          </a:p>
        </p:txBody>
      </p:sp>
      <p:sp>
        <p:nvSpPr>
          <p:cNvPr id="3" name="Text 1"/>
          <p:cNvSpPr/>
          <p:nvPr>
            <p:ph type="title"/>
          </p:nvPr>
        </p:nvSpPr>
        <p:spPr>
          <a:xfrm>
            <a:off x="812800" y="1102320"/>
            <a:ext cx="10883392" cy="78482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F5F6F2"/>
                </a:solidFill>
                <a:latin typeface="Rubik" pitchFamily="34" charset="0"/>
                <a:ea typeface="Rubik" pitchFamily="34" charset="-122"/>
                <a:cs typeface="Rubik" pitchFamily="34" charset="-120"/>
              </a:rPr>
              <a:t>A caller from “your bank” asks you to read out the OTP you just received. What should you do?</a:t>
            </a:r>
            <a:endParaRPr lang="en-US" sz="2600" dirty="0"/>
          </a:p>
        </p:txBody>
      </p:sp>
      <p:sp>
        <p:nvSpPr>
          <p:cNvPr id="4" name="Shape 2"/>
          <p:cNvSpPr/>
          <p:nvPr/>
        </p:nvSpPr>
        <p:spPr>
          <a:xfrm>
            <a:off x="815975" y="2093516"/>
            <a:ext cx="10560050" cy="565150"/>
          </a:xfrm>
          <a:prstGeom prst="roundRect">
            <a:avLst>
              <a:gd name="adj" fmla="val 15169"/>
            </a:avLst>
          </a:prstGeom>
          <a:solidFill>
            <a:srgbClr val="1B2A44"/>
          </a:solidFill>
          <a:ln w="6350">
            <a:solidFill>
              <a:srgbClr val="2B3D5E"/>
            </a:solidFill>
            <a:prstDash val="solid"/>
          </a:ln>
        </p:spPr>
      </p:sp>
      <p:sp>
        <p:nvSpPr>
          <p:cNvPr id="5" name="Text 3"/>
          <p:cNvSpPr/>
          <p:nvPr/>
        </p:nvSpPr>
        <p:spPr>
          <a:xfrm>
            <a:off x="996950" y="2210991"/>
            <a:ext cx="330200" cy="330200"/>
          </a:xfrm>
          <a:prstGeom prst="roundRect">
            <a:avLst>
              <a:gd name="adj" fmla="val 50000"/>
            </a:avLst>
          </a:prstGeom>
          <a:solidFill>
            <a:srgbClr val="F2A33A"/>
          </a:solidFill>
          <a:ln/>
        </p:spPr>
        <p:txBody>
          <a:bodyPr wrap="square" lIns="0" tIns="0" rIns="0" bIns="0" rtlCol="0" anchor="ctr">
            <a:normAutofit/>
          </a:bodyPr>
          <a:lstStyle/>
          <a:p>
            <a:pPr algn="ctr" indent="0" marL="0">
              <a:lnSpc>
                <a:spcPts val="1400"/>
              </a:lnSpc>
              <a:buNone/>
            </a:pPr>
            <a:r>
              <a:rPr lang="en-US" sz="1400" b="1" dirty="0">
                <a:solidFill>
                  <a:srgbClr val="101A2B"/>
                </a:solidFill>
                <a:latin typeface="IBM Plex Sans" pitchFamily="34" charset="0"/>
                <a:ea typeface="IBM Plex Sans" pitchFamily="34" charset="-122"/>
                <a:cs typeface="IBM Plex Sans" pitchFamily="34" charset="-120"/>
              </a:rPr>
              <a:t>A</a:t>
            </a:r>
            <a:endParaRPr lang="en-US" sz="1400" dirty="0"/>
          </a:p>
        </p:txBody>
      </p:sp>
      <p:sp>
        <p:nvSpPr>
          <p:cNvPr id="6" name="Text 4"/>
          <p:cNvSpPr/>
          <p:nvPr/>
        </p:nvSpPr>
        <p:spPr>
          <a:xfrm>
            <a:off x="1479550" y="2242741"/>
            <a:ext cx="382131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6F2"/>
                </a:solidFill>
                <a:latin typeface="IBM Plex Sans" pitchFamily="34" charset="0"/>
                <a:ea typeface="IBM Plex Sans" pitchFamily="34" charset="-122"/>
                <a:cs typeface="IBM Plex Sans" pitchFamily="34" charset="-120"/>
              </a:rPr>
              <a:t>Read it out. They are stopping a fraud</a:t>
            </a:r>
            <a:endParaRPr lang="en-US" sz="1500" dirty="0"/>
          </a:p>
        </p:txBody>
      </p:sp>
      <p:sp>
        <p:nvSpPr>
          <p:cNvPr id="7" name="Shape 5"/>
          <p:cNvSpPr/>
          <p:nvPr/>
        </p:nvSpPr>
        <p:spPr>
          <a:xfrm>
            <a:off x="815975" y="2766616"/>
            <a:ext cx="10560050" cy="565150"/>
          </a:xfrm>
          <a:prstGeom prst="roundRect">
            <a:avLst>
              <a:gd name="adj" fmla="val 15169"/>
            </a:avLst>
          </a:prstGeom>
          <a:solidFill>
            <a:srgbClr val="1B2A44"/>
          </a:solidFill>
          <a:ln w="6350">
            <a:solidFill>
              <a:srgbClr val="2B3D5E"/>
            </a:solidFill>
            <a:prstDash val="solid"/>
          </a:ln>
        </p:spPr>
      </p:sp>
      <p:sp>
        <p:nvSpPr>
          <p:cNvPr id="8" name="Text 6"/>
          <p:cNvSpPr/>
          <p:nvPr/>
        </p:nvSpPr>
        <p:spPr>
          <a:xfrm>
            <a:off x="996950" y="2884091"/>
            <a:ext cx="330200" cy="330200"/>
          </a:xfrm>
          <a:prstGeom prst="roundRect">
            <a:avLst>
              <a:gd name="adj" fmla="val 50000"/>
            </a:avLst>
          </a:prstGeom>
          <a:solidFill>
            <a:srgbClr val="F2A33A"/>
          </a:solidFill>
          <a:ln/>
        </p:spPr>
        <p:txBody>
          <a:bodyPr wrap="square" lIns="0" tIns="0" rIns="0" bIns="0" rtlCol="0" anchor="ctr">
            <a:normAutofit/>
          </a:bodyPr>
          <a:lstStyle/>
          <a:p>
            <a:pPr algn="ctr" indent="0" marL="0">
              <a:lnSpc>
                <a:spcPts val="1400"/>
              </a:lnSpc>
              <a:buNone/>
            </a:pPr>
            <a:r>
              <a:rPr lang="en-US" sz="1400" b="1" dirty="0">
                <a:solidFill>
                  <a:srgbClr val="101A2B"/>
                </a:solidFill>
                <a:latin typeface="IBM Plex Sans" pitchFamily="34" charset="0"/>
                <a:ea typeface="IBM Plex Sans" pitchFamily="34" charset="-122"/>
                <a:cs typeface="IBM Plex Sans" pitchFamily="34" charset="-120"/>
              </a:rPr>
              <a:t>B</a:t>
            </a:r>
            <a:endParaRPr lang="en-US" sz="1400" dirty="0"/>
          </a:p>
        </p:txBody>
      </p:sp>
      <p:sp>
        <p:nvSpPr>
          <p:cNvPr id="9" name="Text 7"/>
          <p:cNvSpPr/>
          <p:nvPr/>
        </p:nvSpPr>
        <p:spPr>
          <a:xfrm>
            <a:off x="1479550" y="2915841"/>
            <a:ext cx="303746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6F2"/>
                </a:solidFill>
                <a:latin typeface="IBM Plex Sans" pitchFamily="34" charset="0"/>
                <a:ea typeface="IBM Plex Sans" pitchFamily="34" charset="-122"/>
                <a:cs typeface="IBM Plex Sans" pitchFamily="34" charset="-120"/>
              </a:rPr>
              <a:t>Read only the last three digits</a:t>
            </a:r>
            <a:endParaRPr lang="en-US" sz="1500" dirty="0"/>
          </a:p>
        </p:txBody>
      </p:sp>
      <p:sp>
        <p:nvSpPr>
          <p:cNvPr id="10" name="Shape 8"/>
          <p:cNvSpPr/>
          <p:nvPr/>
        </p:nvSpPr>
        <p:spPr>
          <a:xfrm>
            <a:off x="815975" y="3439716"/>
            <a:ext cx="10560050" cy="565150"/>
          </a:xfrm>
          <a:prstGeom prst="roundRect">
            <a:avLst>
              <a:gd name="adj" fmla="val 15169"/>
            </a:avLst>
          </a:prstGeom>
          <a:solidFill>
            <a:srgbClr val="1B2A44"/>
          </a:solidFill>
          <a:ln w="6350">
            <a:solidFill>
              <a:srgbClr val="2B3D5E"/>
            </a:solidFill>
            <a:prstDash val="solid"/>
          </a:ln>
        </p:spPr>
      </p:sp>
      <p:sp>
        <p:nvSpPr>
          <p:cNvPr id="11" name="Text 9"/>
          <p:cNvSpPr/>
          <p:nvPr/>
        </p:nvSpPr>
        <p:spPr>
          <a:xfrm>
            <a:off x="996950" y="3557191"/>
            <a:ext cx="330200" cy="330200"/>
          </a:xfrm>
          <a:prstGeom prst="roundRect">
            <a:avLst>
              <a:gd name="adj" fmla="val 50000"/>
            </a:avLst>
          </a:prstGeom>
          <a:solidFill>
            <a:srgbClr val="F2A33A"/>
          </a:solidFill>
          <a:ln/>
        </p:spPr>
        <p:txBody>
          <a:bodyPr wrap="square" lIns="0" tIns="0" rIns="0" bIns="0" rtlCol="0" anchor="ctr">
            <a:normAutofit/>
          </a:bodyPr>
          <a:lstStyle/>
          <a:p>
            <a:pPr algn="ctr" indent="0" marL="0">
              <a:lnSpc>
                <a:spcPts val="1400"/>
              </a:lnSpc>
              <a:buNone/>
            </a:pPr>
            <a:r>
              <a:rPr lang="en-US" sz="1400" b="1" dirty="0">
                <a:solidFill>
                  <a:srgbClr val="101A2B"/>
                </a:solidFill>
                <a:latin typeface="IBM Plex Sans" pitchFamily="34" charset="0"/>
                <a:ea typeface="IBM Plex Sans" pitchFamily="34" charset="-122"/>
                <a:cs typeface="IBM Plex Sans" pitchFamily="34" charset="-120"/>
              </a:rPr>
              <a:t>C</a:t>
            </a:r>
            <a:endParaRPr lang="en-US" sz="1400" dirty="0"/>
          </a:p>
        </p:txBody>
      </p:sp>
      <p:sp>
        <p:nvSpPr>
          <p:cNvPr id="12" name="Text 10"/>
          <p:cNvSpPr/>
          <p:nvPr/>
        </p:nvSpPr>
        <p:spPr>
          <a:xfrm>
            <a:off x="1479550" y="3588941"/>
            <a:ext cx="483352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6F2"/>
                </a:solidFill>
                <a:latin typeface="IBM Plex Sans" pitchFamily="34" charset="0"/>
                <a:ea typeface="IBM Plex Sans" pitchFamily="34" charset="-122"/>
                <a:cs typeface="IBM Plex Sans" pitchFamily="34" charset="-120"/>
              </a:rPr>
              <a:t>Hang up and call the number on your bank card</a:t>
            </a:r>
            <a:endParaRPr lang="en-US" sz="1500" dirty="0"/>
          </a:p>
        </p:txBody>
      </p:sp>
      <p:sp>
        <p:nvSpPr>
          <p:cNvPr id="13" name="Shape 11"/>
          <p:cNvSpPr/>
          <p:nvPr/>
        </p:nvSpPr>
        <p:spPr>
          <a:xfrm>
            <a:off x="812800" y="4749800"/>
            <a:ext cx="10566400" cy="1143000"/>
          </a:xfrm>
          <a:prstGeom prst="roundRect">
            <a:avLst>
              <a:gd name="adj" fmla="val 8889"/>
            </a:avLst>
          </a:prstGeom>
          <a:solidFill>
            <a:srgbClr val="5CC8BE"/>
          </a:solidFill>
          <a:ln/>
        </p:spPr>
      </p:sp>
      <p:sp>
        <p:nvSpPr>
          <p:cNvPr id="14" name="Text 12"/>
          <p:cNvSpPr/>
          <p:nvPr/>
        </p:nvSpPr>
        <p:spPr>
          <a:xfrm>
            <a:off x="1066800" y="5031730"/>
            <a:ext cx="10360152"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01A2B"/>
                </a:solidFill>
                <a:latin typeface="Rubik" pitchFamily="34" charset="0"/>
                <a:ea typeface="Rubik" pitchFamily="34" charset="-122"/>
                <a:cs typeface="Rubik" pitchFamily="34" charset="-120"/>
              </a:rPr>
              <a:t>Answer: C</a:t>
            </a:r>
            <a:endParaRPr lang="en-US" sz="2000" dirty="0"/>
          </a:p>
        </p:txBody>
      </p:sp>
      <p:sp>
        <p:nvSpPr>
          <p:cNvPr id="15" name="Text 13"/>
          <p:cNvSpPr/>
          <p:nvPr/>
        </p:nvSpPr>
        <p:spPr>
          <a:xfrm>
            <a:off x="1066800" y="5361930"/>
            <a:ext cx="1036015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A genuine bank never asks for your OTP. Even part of a code can help an attacker. End the call and use an official number.</a:t>
            </a:r>
            <a:endParaRPr lang="en-US" sz="1400" dirty="0"/>
          </a:p>
        </p:txBody>
      </p:sp>
      <p:sp>
        <p:nvSpPr>
          <p:cNvPr id="16" name="Text 1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C"/>
                </a:solidFill>
                <a:latin typeface="IBM Plex Sans" pitchFamily="34" charset="0"/>
                <a:ea typeface="IBM Plex Sans" pitchFamily="34" charset="-122"/>
                <a:cs typeface="IBM Plex Sans" pitchFamily="34" charset="-120"/>
              </a:rPr>
              <a:t>Phishing Awareness Training</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7BC"/>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1A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3A"/>
                </a:solidFill>
                <a:latin typeface="IBM Plex Sans" pitchFamily="34" charset="0"/>
                <a:ea typeface="IBM Plex Sans" pitchFamily="34" charset="-122"/>
                <a:cs typeface="IBM Plex Sans" pitchFamily="34" charset="-120"/>
              </a:rPr>
              <a:t>QUIZ 4 OF 4</a:t>
            </a:r>
            <a:endParaRPr lang="en-US" sz="1200" dirty="0"/>
          </a:p>
        </p:txBody>
      </p:sp>
      <p:sp>
        <p:nvSpPr>
          <p:cNvPr id="3" name="Text 1"/>
          <p:cNvSpPr/>
          <p:nvPr>
            <p:ph type="title"/>
          </p:nvPr>
        </p:nvSpPr>
        <p:spPr>
          <a:xfrm>
            <a:off x="812800" y="1102320"/>
            <a:ext cx="10883392" cy="78482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F5F6F2"/>
                </a:solidFill>
                <a:latin typeface="Rubik" pitchFamily="34" charset="0"/>
                <a:ea typeface="Rubik" pitchFamily="34" charset="-122"/>
                <a:cs typeface="Rubik" pitchFamily="34" charset="-120"/>
              </a:rPr>
              <a:t>True or false: if a site shows a padlock and starts with https, it is safe to enter your details.</a:t>
            </a:r>
            <a:endParaRPr lang="en-US" sz="2600" dirty="0"/>
          </a:p>
        </p:txBody>
      </p:sp>
      <p:sp>
        <p:nvSpPr>
          <p:cNvPr id="4" name="Shape 2"/>
          <p:cNvSpPr/>
          <p:nvPr/>
        </p:nvSpPr>
        <p:spPr>
          <a:xfrm>
            <a:off x="815975" y="2093516"/>
            <a:ext cx="10560050" cy="565150"/>
          </a:xfrm>
          <a:prstGeom prst="roundRect">
            <a:avLst>
              <a:gd name="adj" fmla="val 15169"/>
            </a:avLst>
          </a:prstGeom>
          <a:solidFill>
            <a:srgbClr val="1B2A44"/>
          </a:solidFill>
          <a:ln w="6350">
            <a:solidFill>
              <a:srgbClr val="2B3D5E"/>
            </a:solidFill>
            <a:prstDash val="solid"/>
          </a:ln>
        </p:spPr>
      </p:sp>
      <p:sp>
        <p:nvSpPr>
          <p:cNvPr id="5" name="Text 3"/>
          <p:cNvSpPr/>
          <p:nvPr/>
        </p:nvSpPr>
        <p:spPr>
          <a:xfrm>
            <a:off x="996950" y="2210991"/>
            <a:ext cx="330200" cy="330200"/>
          </a:xfrm>
          <a:prstGeom prst="roundRect">
            <a:avLst>
              <a:gd name="adj" fmla="val 50000"/>
            </a:avLst>
          </a:prstGeom>
          <a:solidFill>
            <a:srgbClr val="F2A33A"/>
          </a:solidFill>
          <a:ln/>
        </p:spPr>
        <p:txBody>
          <a:bodyPr wrap="square" lIns="0" tIns="0" rIns="0" bIns="0" rtlCol="0" anchor="ctr">
            <a:normAutofit/>
          </a:bodyPr>
          <a:lstStyle/>
          <a:p>
            <a:pPr algn="ctr" indent="0" marL="0">
              <a:lnSpc>
                <a:spcPts val="1400"/>
              </a:lnSpc>
              <a:buNone/>
            </a:pPr>
            <a:r>
              <a:rPr lang="en-US" sz="1400" b="1" dirty="0">
                <a:solidFill>
                  <a:srgbClr val="101A2B"/>
                </a:solidFill>
                <a:latin typeface="IBM Plex Sans" pitchFamily="34" charset="0"/>
                <a:ea typeface="IBM Plex Sans" pitchFamily="34" charset="-122"/>
                <a:cs typeface="IBM Plex Sans" pitchFamily="34" charset="-120"/>
              </a:rPr>
              <a:t>A</a:t>
            </a:r>
            <a:endParaRPr lang="en-US" sz="1400" dirty="0"/>
          </a:p>
        </p:txBody>
      </p:sp>
      <p:sp>
        <p:nvSpPr>
          <p:cNvPr id="6" name="Text 4"/>
          <p:cNvSpPr/>
          <p:nvPr/>
        </p:nvSpPr>
        <p:spPr>
          <a:xfrm>
            <a:off x="1479550" y="2242741"/>
            <a:ext cx="4597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6F2"/>
                </a:solidFill>
                <a:latin typeface="IBM Plex Sans" pitchFamily="34" charset="0"/>
                <a:ea typeface="IBM Plex Sans" pitchFamily="34" charset="-122"/>
                <a:cs typeface="IBM Plex Sans" pitchFamily="34" charset="-120"/>
              </a:rPr>
              <a:t>True</a:t>
            </a:r>
            <a:endParaRPr lang="en-US" sz="1500" dirty="0"/>
          </a:p>
        </p:txBody>
      </p:sp>
      <p:sp>
        <p:nvSpPr>
          <p:cNvPr id="7" name="Shape 5"/>
          <p:cNvSpPr/>
          <p:nvPr/>
        </p:nvSpPr>
        <p:spPr>
          <a:xfrm>
            <a:off x="815975" y="2766616"/>
            <a:ext cx="10560050" cy="565150"/>
          </a:xfrm>
          <a:prstGeom prst="roundRect">
            <a:avLst>
              <a:gd name="adj" fmla="val 15169"/>
            </a:avLst>
          </a:prstGeom>
          <a:solidFill>
            <a:srgbClr val="1B2A44"/>
          </a:solidFill>
          <a:ln w="6350">
            <a:solidFill>
              <a:srgbClr val="2B3D5E"/>
            </a:solidFill>
            <a:prstDash val="solid"/>
          </a:ln>
        </p:spPr>
      </p:sp>
      <p:sp>
        <p:nvSpPr>
          <p:cNvPr id="8" name="Text 6"/>
          <p:cNvSpPr/>
          <p:nvPr/>
        </p:nvSpPr>
        <p:spPr>
          <a:xfrm>
            <a:off x="996950" y="2884091"/>
            <a:ext cx="330200" cy="330200"/>
          </a:xfrm>
          <a:prstGeom prst="roundRect">
            <a:avLst>
              <a:gd name="adj" fmla="val 50000"/>
            </a:avLst>
          </a:prstGeom>
          <a:solidFill>
            <a:srgbClr val="F2A33A"/>
          </a:solidFill>
          <a:ln/>
        </p:spPr>
        <p:txBody>
          <a:bodyPr wrap="square" lIns="0" tIns="0" rIns="0" bIns="0" rtlCol="0" anchor="ctr">
            <a:normAutofit/>
          </a:bodyPr>
          <a:lstStyle/>
          <a:p>
            <a:pPr algn="ctr" indent="0" marL="0">
              <a:lnSpc>
                <a:spcPts val="1400"/>
              </a:lnSpc>
              <a:buNone/>
            </a:pPr>
            <a:r>
              <a:rPr lang="en-US" sz="1400" b="1" dirty="0">
                <a:solidFill>
                  <a:srgbClr val="101A2B"/>
                </a:solidFill>
                <a:latin typeface="IBM Plex Sans" pitchFamily="34" charset="0"/>
                <a:ea typeface="IBM Plex Sans" pitchFamily="34" charset="-122"/>
                <a:cs typeface="IBM Plex Sans" pitchFamily="34" charset="-120"/>
              </a:rPr>
              <a:t>B</a:t>
            </a:r>
            <a:endParaRPr lang="en-US" sz="1400" dirty="0"/>
          </a:p>
        </p:txBody>
      </p:sp>
      <p:sp>
        <p:nvSpPr>
          <p:cNvPr id="9" name="Text 7"/>
          <p:cNvSpPr/>
          <p:nvPr/>
        </p:nvSpPr>
        <p:spPr>
          <a:xfrm>
            <a:off x="1479550" y="2915841"/>
            <a:ext cx="53977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6F2"/>
                </a:solidFill>
                <a:latin typeface="IBM Plex Sans" pitchFamily="34" charset="0"/>
                <a:ea typeface="IBM Plex Sans" pitchFamily="34" charset="-122"/>
                <a:cs typeface="IBM Plex Sans" pitchFamily="34" charset="-120"/>
              </a:rPr>
              <a:t>False</a:t>
            </a:r>
            <a:endParaRPr lang="en-US" sz="1500" dirty="0"/>
          </a:p>
        </p:txBody>
      </p:sp>
      <p:sp>
        <p:nvSpPr>
          <p:cNvPr id="10" name="Shape 8"/>
          <p:cNvSpPr/>
          <p:nvPr/>
        </p:nvSpPr>
        <p:spPr>
          <a:xfrm>
            <a:off x="812800" y="4749800"/>
            <a:ext cx="10566400" cy="1143000"/>
          </a:xfrm>
          <a:prstGeom prst="roundRect">
            <a:avLst>
              <a:gd name="adj" fmla="val 8889"/>
            </a:avLst>
          </a:prstGeom>
          <a:solidFill>
            <a:srgbClr val="5CC8BE"/>
          </a:solidFill>
          <a:ln/>
        </p:spPr>
      </p:sp>
      <p:sp>
        <p:nvSpPr>
          <p:cNvPr id="11" name="Text 9"/>
          <p:cNvSpPr/>
          <p:nvPr/>
        </p:nvSpPr>
        <p:spPr>
          <a:xfrm>
            <a:off x="1066800" y="5031730"/>
            <a:ext cx="10360152"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01A2B"/>
                </a:solidFill>
                <a:latin typeface="Rubik" pitchFamily="34" charset="0"/>
                <a:ea typeface="Rubik" pitchFamily="34" charset="-122"/>
                <a:cs typeface="Rubik" pitchFamily="34" charset="-120"/>
              </a:rPr>
              <a:t>Answer: B (False)</a:t>
            </a:r>
            <a:endParaRPr lang="en-US" sz="2000" dirty="0"/>
          </a:p>
        </p:txBody>
      </p:sp>
      <p:sp>
        <p:nvSpPr>
          <p:cNvPr id="12" name="Text 10"/>
          <p:cNvSpPr/>
          <p:nvPr/>
        </p:nvSpPr>
        <p:spPr>
          <a:xfrm>
            <a:off x="1066800" y="5361930"/>
            <a:ext cx="1036015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A2B"/>
                </a:solidFill>
                <a:latin typeface="IBM Plex Sans" pitchFamily="34" charset="0"/>
                <a:ea typeface="IBM Plex Sans" pitchFamily="34" charset="-122"/>
                <a:cs typeface="IBM Plex Sans" pitchFamily="34" charset="-120"/>
              </a:rPr>
              <a:t>The padlock only means the connection is encrypted. Criminals get certificates for fake sites too, so always check the domain.</a:t>
            </a:r>
            <a:endParaRPr lang="en-US" sz="1400" dirty="0"/>
          </a:p>
        </p:txBody>
      </p:sp>
      <p:sp>
        <p:nvSpPr>
          <p:cNvPr id="13" name="Text 1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C"/>
                </a:solidFill>
                <a:latin typeface="IBM Plex Sans" pitchFamily="34" charset="0"/>
                <a:ea typeface="IBM Plex Sans" pitchFamily="34" charset="-122"/>
                <a:cs typeface="IBM Plex Sans" pitchFamily="34" charset="-120"/>
              </a:rPr>
              <a:t>Phishing Awareness Training</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7BC"/>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01A2B"/>
        </a:solidFill>
      </p:bgPr>
    </p:bg>
    <p:spTree>
      <p:nvGrpSpPr>
        <p:cNvPr id="1" name=""/>
        <p:cNvGrpSpPr/>
        <p:nvPr/>
      </p:nvGrpSpPr>
      <p:grpSpPr>
        <a:xfrm>
          <a:off x="0" y="0"/>
          <a:ext cx="0" cy="0"/>
          <a:chOff x="0" y="0"/>
          <a:chExt cx="0" cy="0"/>
        </a:xfrm>
      </p:grpSpPr>
      <p:sp>
        <p:nvSpPr>
          <p:cNvPr id="2" name="Text 0"/>
          <p:cNvSpPr/>
          <p:nvPr/>
        </p:nvSpPr>
        <p:spPr>
          <a:xfrm>
            <a:off x="812800" y="202063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3A"/>
                </a:solidFill>
                <a:latin typeface="IBM Plex Sans" pitchFamily="34" charset="0"/>
                <a:ea typeface="IBM Plex Sans" pitchFamily="34" charset="-122"/>
                <a:cs typeface="IBM Plex Sans" pitchFamily="34" charset="-120"/>
              </a:rPr>
              <a:t>KEY TAKEAWAYS</a:t>
            </a:r>
            <a:endParaRPr lang="en-US" sz="1200" dirty="0"/>
          </a:p>
        </p:txBody>
      </p:sp>
      <p:sp>
        <p:nvSpPr>
          <p:cNvPr id="3" name="Text 1"/>
          <p:cNvSpPr/>
          <p:nvPr>
            <p:ph type="title"/>
          </p:nvPr>
        </p:nvSpPr>
        <p:spPr>
          <a:xfrm>
            <a:off x="812800" y="2310160"/>
            <a:ext cx="10883392" cy="807690"/>
          </a:xfrm>
          <a:prstGeom prst="rect">
            <a:avLst/>
          </a:prstGeom>
          <a:noFill/>
          <a:ln/>
        </p:spPr>
        <p:txBody>
          <a:bodyPr wrap="square" lIns="0" tIns="0" rIns="0" bIns="0" rtlCol="0" anchor="t">
            <a:normAutofit/>
          </a:bodyPr>
          <a:lstStyle/>
          <a:p>
            <a:pPr algn="l" indent="0" marL="0">
              <a:lnSpc>
                <a:spcPts val="6160"/>
              </a:lnSpc>
              <a:buNone/>
            </a:pPr>
            <a:r>
              <a:rPr lang="en-US" sz="5600" b="1" i="0" dirty="0">
                <a:solidFill>
                  <a:srgbClr val="F5F6F2"/>
                </a:solidFill>
                <a:latin typeface="Rubik" pitchFamily="34" charset="0"/>
                <a:ea typeface="Rubik" pitchFamily="34" charset="-122"/>
                <a:cs typeface="Rubik" pitchFamily="34" charset="-120"/>
              </a:rPr>
              <a:t>Pause. Check. Report.</a:t>
            </a:r>
            <a:endParaRPr lang="en-US" sz="5600" dirty="0"/>
          </a:p>
        </p:txBody>
      </p:sp>
      <p:sp>
        <p:nvSpPr>
          <p:cNvPr id="4" name="Shape 2"/>
          <p:cNvSpPr/>
          <p:nvPr/>
        </p:nvSpPr>
        <p:spPr>
          <a:xfrm>
            <a:off x="815975" y="3400425"/>
            <a:ext cx="3414167" cy="1230561"/>
          </a:xfrm>
          <a:prstGeom prst="roundRect">
            <a:avLst>
              <a:gd name="adj" fmla="val 7998"/>
            </a:avLst>
          </a:prstGeom>
          <a:solidFill>
            <a:srgbClr val="1B2A44"/>
          </a:solidFill>
          <a:ln w="6350">
            <a:solidFill>
              <a:srgbClr val="2B3D5E"/>
            </a:solidFill>
            <a:prstDash val="solid"/>
          </a:ln>
        </p:spPr>
      </p:sp>
      <p:sp>
        <p:nvSpPr>
          <p:cNvPr id="5" name="Text 3"/>
          <p:cNvSpPr/>
          <p:nvPr/>
        </p:nvSpPr>
        <p:spPr>
          <a:xfrm>
            <a:off x="1022350" y="36068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33A"/>
                </a:solidFill>
                <a:latin typeface="IBM Plex Sans" pitchFamily="34" charset="0"/>
                <a:ea typeface="IBM Plex Sans" pitchFamily="34" charset="-122"/>
                <a:cs typeface="IBM Plex Sans" pitchFamily="34" charset="-120"/>
              </a:rPr>
              <a:t>Pause</a:t>
            </a:r>
            <a:endParaRPr lang="en-US" sz="1600" dirty="0"/>
          </a:p>
        </p:txBody>
      </p:sp>
      <p:sp>
        <p:nvSpPr>
          <p:cNvPr id="6" name="Text 4"/>
          <p:cNvSpPr/>
          <p:nvPr/>
        </p:nvSpPr>
        <p:spPr>
          <a:xfrm>
            <a:off x="1022350" y="3926830"/>
            <a:ext cx="3091459"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D0E0"/>
                </a:solidFill>
                <a:latin typeface="IBM Plex Sans" pitchFamily="34" charset="0"/>
                <a:ea typeface="IBM Plex Sans" pitchFamily="34" charset="-122"/>
                <a:cs typeface="IBM Plex Sans" pitchFamily="34" charset="-120"/>
              </a:rPr>
              <a:t>Slow down when a message creates urgency, fear or excitement.</a:t>
            </a:r>
            <a:endParaRPr lang="en-US" sz="1400" dirty="0"/>
          </a:p>
        </p:txBody>
      </p:sp>
      <p:sp>
        <p:nvSpPr>
          <p:cNvPr id="7" name="Shape 5"/>
          <p:cNvSpPr/>
          <p:nvPr/>
        </p:nvSpPr>
        <p:spPr>
          <a:xfrm>
            <a:off x="4388892" y="3400425"/>
            <a:ext cx="3414216" cy="1230561"/>
          </a:xfrm>
          <a:prstGeom prst="roundRect">
            <a:avLst>
              <a:gd name="adj" fmla="val 7998"/>
            </a:avLst>
          </a:prstGeom>
          <a:solidFill>
            <a:srgbClr val="1B2A44"/>
          </a:solidFill>
          <a:ln w="6350">
            <a:solidFill>
              <a:srgbClr val="2B3D5E"/>
            </a:solidFill>
            <a:prstDash val="solid"/>
          </a:ln>
        </p:spPr>
      </p:sp>
      <p:sp>
        <p:nvSpPr>
          <p:cNvPr id="8" name="Text 6"/>
          <p:cNvSpPr/>
          <p:nvPr/>
        </p:nvSpPr>
        <p:spPr>
          <a:xfrm>
            <a:off x="4595267" y="3606800"/>
            <a:ext cx="30915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33A"/>
                </a:solidFill>
                <a:latin typeface="IBM Plex Sans" pitchFamily="34" charset="0"/>
                <a:ea typeface="IBM Plex Sans" pitchFamily="34" charset="-122"/>
                <a:cs typeface="IBM Plex Sans" pitchFamily="34" charset="-120"/>
              </a:rPr>
              <a:t>Check</a:t>
            </a:r>
            <a:endParaRPr lang="en-US" sz="1600" dirty="0"/>
          </a:p>
        </p:txBody>
      </p:sp>
      <p:sp>
        <p:nvSpPr>
          <p:cNvPr id="9" name="Text 7"/>
          <p:cNvSpPr/>
          <p:nvPr/>
        </p:nvSpPr>
        <p:spPr>
          <a:xfrm>
            <a:off x="4595267" y="3926830"/>
            <a:ext cx="309151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D0E0"/>
                </a:solidFill>
                <a:latin typeface="IBM Plex Sans" pitchFamily="34" charset="0"/>
                <a:ea typeface="IBM Plex Sans" pitchFamily="34" charset="-122"/>
                <a:cs typeface="IBM Plex Sans" pitchFamily="34" charset="-120"/>
              </a:rPr>
              <a:t>Verify the sender, the link and the request on a second channel.</a:t>
            </a:r>
            <a:endParaRPr lang="en-US" sz="1400" dirty="0"/>
          </a:p>
        </p:txBody>
      </p:sp>
      <p:sp>
        <p:nvSpPr>
          <p:cNvPr id="10" name="Shape 8"/>
          <p:cNvSpPr/>
          <p:nvPr/>
        </p:nvSpPr>
        <p:spPr>
          <a:xfrm>
            <a:off x="7961858" y="3400425"/>
            <a:ext cx="3414167" cy="1230561"/>
          </a:xfrm>
          <a:prstGeom prst="roundRect">
            <a:avLst>
              <a:gd name="adj" fmla="val 7998"/>
            </a:avLst>
          </a:prstGeom>
          <a:solidFill>
            <a:srgbClr val="1B2A44"/>
          </a:solidFill>
          <a:ln w="6350">
            <a:solidFill>
              <a:srgbClr val="2B3D5E"/>
            </a:solidFill>
            <a:prstDash val="solid"/>
          </a:ln>
        </p:spPr>
      </p:sp>
      <p:sp>
        <p:nvSpPr>
          <p:cNvPr id="11" name="Text 9"/>
          <p:cNvSpPr/>
          <p:nvPr/>
        </p:nvSpPr>
        <p:spPr>
          <a:xfrm>
            <a:off x="8168233" y="36068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33A"/>
                </a:solidFill>
                <a:latin typeface="IBM Plex Sans" pitchFamily="34" charset="0"/>
                <a:ea typeface="IBM Plex Sans" pitchFamily="34" charset="-122"/>
                <a:cs typeface="IBM Plex Sans" pitchFamily="34" charset="-120"/>
              </a:rPr>
              <a:t>Report</a:t>
            </a:r>
            <a:endParaRPr lang="en-US" sz="1600" dirty="0"/>
          </a:p>
        </p:txBody>
      </p:sp>
      <p:sp>
        <p:nvSpPr>
          <p:cNvPr id="12" name="Text 10"/>
          <p:cNvSpPr/>
          <p:nvPr/>
        </p:nvSpPr>
        <p:spPr>
          <a:xfrm>
            <a:off x="8168233" y="3926830"/>
            <a:ext cx="3091459"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D0E0"/>
                </a:solidFill>
                <a:latin typeface="IBM Plex Sans" pitchFamily="34" charset="0"/>
                <a:ea typeface="IBM Plex Sans" pitchFamily="34" charset="-122"/>
                <a:cs typeface="IBM Plex Sans" pitchFamily="34" charset="-120"/>
              </a:rPr>
              <a:t>Tell IT or your bank straight away, even if you already clicked.</a:t>
            </a:r>
            <a:endParaRPr lang="en-US" sz="1400" dirty="0"/>
          </a:p>
        </p:txBody>
      </p:sp>
      <p:sp>
        <p:nvSpPr>
          <p:cNvPr id="13" name="Text 1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C"/>
                </a:solidFill>
                <a:latin typeface="IBM Plex Sans" pitchFamily="34" charset="0"/>
                <a:ea typeface="IBM Plex Sans" pitchFamily="34" charset="-122"/>
                <a:cs typeface="IBM Plex Sans" pitchFamily="34" charset="-120"/>
              </a:rPr>
              <a:t>Thank you · Questions?</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7BC"/>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theme/theme1.xml><?xml version="1.0" encoding="utf-8"?>
<a:theme xmlns:a="http://schemas.openxmlformats.org/drawingml/2006/main" name="Phishing Awareness Training">
  <a:themeElements>
    <a:clrScheme name="Phishing Awareness Training">
      <a:dk1>
        <a:srgbClr val="101A2B"/>
      </a:dk1>
      <a:lt1>
        <a:srgbClr val="F5F6F2"/>
      </a:lt1>
      <a:dk2>
        <a:srgbClr val="49515D"/>
      </a:dk2>
      <a:lt2>
        <a:srgbClr val="DEE0DE"/>
      </a:lt2>
      <a:accent1>
        <a:srgbClr val="F2A33A"/>
      </a:accent1>
      <a:accent2>
        <a:srgbClr val="17766F"/>
      </a:accent2>
      <a:accent3>
        <a:srgbClr val="1B2A44"/>
      </a:accent3>
      <a:accent4>
        <a:srgbClr val="B45309"/>
      </a:accent4>
      <a:accent5>
        <a:srgbClr val="5CC8BE"/>
      </a:accent5>
      <a:accent6>
        <a:srgbClr val="0F4F4A"/>
      </a:accent6>
      <a:hlink>
        <a:srgbClr val="0563C1"/>
      </a:hlink>
      <a:folHlink>
        <a:srgbClr val="954F72"/>
      </a:folHlink>
    </a:clrScheme>
    <a:fontScheme name="Phishing Awareness Training">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Awareness Training</dc:title>
  <dc:subject/>
  <dc:creator/>
  <cp:lastModifiedBy/>
  <cp:revision>1</cp:revision>
  <dcterms:created xsi:type="dcterms:W3CDTF">2026-10-19T12:29:01Z</dcterms:created>
  <dcterms:modified xsi:type="dcterms:W3CDTF">2026-10-19T12:29:01Z</dcterms:modified>
</cp:coreProperties>
</file>